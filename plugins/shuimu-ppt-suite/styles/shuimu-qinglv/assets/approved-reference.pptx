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22551605d949f5" /><Relationship Type="http://schemas.openxmlformats.org/officeDocument/2006/relationships/extended-properties" Target="/docProps/app.xml" Id="R5ce92cf8a30f4969" /><Relationship Type="http://schemas.openxmlformats.org/officeDocument/2006/relationships/officeDocument" Target="/ppt/presentation.xml" Id="R89062bed14eb4e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f47522d6734567"/>
  </p:sldMasterIdLst>
  <p:notesMasterIdLst>
    <p:notesMasterId xmlns:r="http://schemas.openxmlformats.org/officeDocument/2006/relationships" r:id="Rbda0ae44e1f44f4e"/>
  </p:notesMasterIdLst>
  <p:sldIdLst>
    <p:sldId xmlns:r="http://schemas.openxmlformats.org/officeDocument/2006/relationships" id="256" r:id="Rc4567dbf57754f3c"/>
    <p:sldId xmlns:r="http://schemas.openxmlformats.org/officeDocument/2006/relationships" id="257" r:id="Reb98ab454b154b46"/>
    <p:sldId xmlns:r="http://schemas.openxmlformats.org/officeDocument/2006/relationships" id="258" r:id="Rb312d0d883ae45cf"/>
    <p:sldId xmlns:r="http://schemas.openxmlformats.org/officeDocument/2006/relationships" id="259" r:id="R679574069d774634"/>
    <p:sldId xmlns:r="http://schemas.openxmlformats.org/officeDocument/2006/relationships" id="260" r:id="Re0fef8de2c0e4415"/>
    <p:sldId xmlns:r="http://schemas.openxmlformats.org/officeDocument/2006/relationships" id="261" r:id="R2ad99cbbcb4f46a7"/>
    <p:sldId xmlns:r="http://schemas.openxmlformats.org/officeDocument/2006/relationships" id="262" r:id="R641e4614bf0b46bf"/>
    <p:sldId xmlns:r="http://schemas.openxmlformats.org/officeDocument/2006/relationships" id="263" r:id="R0a7f6c12429d4a8b"/>
    <p:sldId xmlns:r="http://schemas.openxmlformats.org/officeDocument/2006/relationships" id="264" r:id="R6cc82602acf84ab7"/>
    <p:sldId xmlns:r="http://schemas.openxmlformats.org/officeDocument/2006/relationships" id="265" r:id="Rde4bba7af9064eeb"/>
    <p:sldId xmlns:r="http://schemas.openxmlformats.org/officeDocument/2006/relationships" id="266" r:id="Re21596662eee4b85"/>
    <p:sldId xmlns:r="http://schemas.openxmlformats.org/officeDocument/2006/relationships" id="267" r:id="Rd1d59d9d1d2c45d5"/>
    <p:sldId xmlns:r="http://schemas.openxmlformats.org/officeDocument/2006/relationships" id="268" r:id="Rdc132f35612c4d55"/>
    <p:sldId xmlns:r="http://schemas.openxmlformats.org/officeDocument/2006/relationships" id="269" r:id="Ra6190a2d6f6445a1"/>
    <p:sldId xmlns:r="http://schemas.openxmlformats.org/officeDocument/2006/relationships" id="270" r:id="R15d62a70d60c429d"/>
    <p:sldId xmlns:r="http://schemas.openxmlformats.org/officeDocument/2006/relationships" id="271" r:id="Rb76465c998a74e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0" cy="72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39f6af47414339" /><Relationship Type="http://schemas.openxmlformats.org/officeDocument/2006/relationships/slideMaster" Target="/ppt/slideMasters/slideMaster1.xml" Id="R1ef47522d6734567" /><Relationship Type="http://schemas.openxmlformats.org/officeDocument/2006/relationships/notesMaster" Target="/ppt/notesMasters/notesMaster1.xml" Id="Rbda0ae44e1f44f4e" /><Relationship Type="http://schemas.openxmlformats.org/officeDocument/2006/relationships/presProps" Target="/ppt/presProps.xml" Id="Rd8cde8eeaa8a472a" /><Relationship Type="http://schemas.openxmlformats.org/officeDocument/2006/relationships/viewProps" Target="/ppt/viewProps.xml" Id="Rdfd8c1a6bbe449e3" /><Relationship Type="http://schemas.openxmlformats.org/officeDocument/2006/relationships/tableStyles" Target="/ppt/tableStyles.xml" Id="R0b513344e3d14e9e" /><Relationship Type="http://schemas.openxmlformats.org/officeDocument/2006/relationships/slide" Target="/ppt/slides/slide1.xml" Id="Rc4567dbf57754f3c" /><Relationship Type="http://schemas.openxmlformats.org/officeDocument/2006/relationships/slide" Target="/ppt/slides/slide2.xml" Id="Reb98ab454b154b46" /><Relationship Type="http://schemas.openxmlformats.org/officeDocument/2006/relationships/slide" Target="/ppt/slides/slide3.xml" Id="Rb312d0d883ae45cf" /><Relationship Type="http://schemas.openxmlformats.org/officeDocument/2006/relationships/slide" Target="/ppt/slides/slide4.xml" Id="R679574069d774634" /><Relationship Type="http://schemas.openxmlformats.org/officeDocument/2006/relationships/slide" Target="/ppt/slides/slide5.xml" Id="Re0fef8de2c0e4415" /><Relationship Type="http://schemas.openxmlformats.org/officeDocument/2006/relationships/slide" Target="/ppt/slides/slide6.xml" Id="R2ad99cbbcb4f46a7" /><Relationship Type="http://schemas.openxmlformats.org/officeDocument/2006/relationships/slide" Target="/ppt/slides/slide7.xml" Id="R641e4614bf0b46bf" /><Relationship Type="http://schemas.openxmlformats.org/officeDocument/2006/relationships/slide" Target="/ppt/slides/slide8.xml" Id="R0a7f6c12429d4a8b" /><Relationship Type="http://schemas.openxmlformats.org/officeDocument/2006/relationships/slide" Target="/ppt/slides/slide9.xml" Id="R6cc82602acf84ab7" /><Relationship Type="http://schemas.openxmlformats.org/officeDocument/2006/relationships/slide" Target="/ppt/slides/slide10.xml" Id="Rde4bba7af9064eeb" /><Relationship Type="http://schemas.openxmlformats.org/officeDocument/2006/relationships/slide" Target="/ppt/slides/slide11.xml" Id="Re21596662eee4b85" /><Relationship Type="http://schemas.openxmlformats.org/officeDocument/2006/relationships/slide" Target="/ppt/slides/slide12.xml" Id="Rd1d59d9d1d2c45d5" /><Relationship Type="http://schemas.openxmlformats.org/officeDocument/2006/relationships/slide" Target="/ppt/slides/slide13.xml" Id="Rdc132f35612c4d55" /><Relationship Type="http://schemas.openxmlformats.org/officeDocument/2006/relationships/slide" Target="/ppt/slides/slide14.xml" Id="Ra6190a2d6f6445a1" /><Relationship Type="http://schemas.openxmlformats.org/officeDocument/2006/relationships/slide" Target="/ppt/slides/slide15.xml" Id="R15d62a70d60c429d" /><Relationship Type="http://schemas.openxmlformats.org/officeDocument/2006/relationships/slide" Target="/ppt/slides/slide16.xml" Id="Rb76465c998a74e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94c42e31b644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efa41fe2284862" /><Relationship Type="http://schemas.openxmlformats.org/officeDocument/2006/relationships/notesMaster" Target="/ppt/notesMasters/notesMaster1.xml" Id="R9086969799994b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eeb2a490be46e6" /><Relationship Type="http://schemas.openxmlformats.org/officeDocument/2006/relationships/notesMaster" Target="/ppt/notesMasters/notesMaster1.xml" Id="Ra11f3028336448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2c6469efbb48ac" /><Relationship Type="http://schemas.openxmlformats.org/officeDocument/2006/relationships/notesMaster" Target="/ppt/notesMasters/notesMaster1.xml" Id="Ra003643f0d6541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88ae06ced4488f" /><Relationship Type="http://schemas.openxmlformats.org/officeDocument/2006/relationships/notesMaster" Target="/ppt/notesMasters/notesMaster1.xml" Id="Ra7420085e94a4d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a0e57aed8c4b4b" /><Relationship Type="http://schemas.openxmlformats.org/officeDocument/2006/relationships/notesMaster" Target="/ppt/notesMasters/notesMaster1.xml" Id="R9812ba450bad48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44f62656ca48af" /><Relationship Type="http://schemas.openxmlformats.org/officeDocument/2006/relationships/notesMaster" Target="/ppt/notesMasters/notesMaster1.xml" Id="R8d07827cd21340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8d34a4eb3c4fd8" /><Relationship Type="http://schemas.openxmlformats.org/officeDocument/2006/relationships/notesMaster" Target="/ppt/notesMasters/notesMaster1.xml" Id="R54488d44f37e41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cec39232844df7" /><Relationship Type="http://schemas.openxmlformats.org/officeDocument/2006/relationships/notesMaster" Target="/ppt/notesMasters/notesMaster1.xml" Id="R6a6e1747ac6940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22f88ba5804cc9" /><Relationship Type="http://schemas.openxmlformats.org/officeDocument/2006/relationships/notesMaster" Target="/ppt/notesMasters/notesMaster1.xml" Id="R51806160b70740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f526e27c934497" /><Relationship Type="http://schemas.openxmlformats.org/officeDocument/2006/relationships/notesMaster" Target="/ppt/notesMasters/notesMaster1.xml" Id="Reea061aacce744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16855f4fcd4f90" /><Relationship Type="http://schemas.openxmlformats.org/officeDocument/2006/relationships/notesMaster" Target="/ppt/notesMasters/notesMaster1.xml" Id="Rd996275810d346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a4b4d5419c4b34" /><Relationship Type="http://schemas.openxmlformats.org/officeDocument/2006/relationships/notesMaster" Target="/ppt/notesMasters/notesMaster1.xml" Id="R69de3a39f49743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00f86397284dcc" /><Relationship Type="http://schemas.openxmlformats.org/officeDocument/2006/relationships/notesMaster" Target="/ppt/notesMasters/notesMaster1.xml" Id="R3230ddb5f17545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a9da24dfdd4dd8" /><Relationship Type="http://schemas.openxmlformats.org/officeDocument/2006/relationships/notesMaster" Target="/ppt/notesMasters/notesMaster1.xml" Id="Re1955ccb88c54c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80f6929a5b4096" /><Relationship Type="http://schemas.openxmlformats.org/officeDocument/2006/relationships/notesMaster" Target="/ppt/notesMasters/notesMaster1.xml" Id="Rcb2207729b2a44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f74e157e414a58" /><Relationship Type="http://schemas.openxmlformats.org/officeDocument/2006/relationships/notesMaster" Target="/ppt/notesMasters/notesMaster1.xml" Id="R36262bd2042742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 已确认的16页示范医院建设进展方案第0页</a:t>
            </a:r>
          </a:p>
          <a:p xmlns:a="http://schemas.openxmlformats.org/drawingml/2006/main">
            <a:r>
              <a:t>视觉模板 水木青绿源第1页 封面 标题栏与医院标识继承原始原生对象</a:t>
            </a:r>
          </a:p>
          <a:p xmlns:a="http://schemas.openxmlformats.org/drawingml/2006/main">
            <a:r>
              <a:t>装饰背景与线描插画经内置ImageGen调整为青绿配色 不代表真实医院场景或产品运行截图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 已确认的16页示范医院建设进展方案第1页</a:t>
            </a:r>
          </a:p>
          <a:p xmlns:a="http://schemas.openxmlformats.org/drawingml/2006/main">
            <a:r>
              <a:t>视觉模板 水木青绿源第4页 封面 标题栏与医院标识继承原始原生对象</a:t>
            </a:r>
          </a:p>
          <a:p xmlns:a="http://schemas.openxmlformats.org/drawingml/2006/main">
            <a:r>
              <a:t>装饰背景与线描插画经内置ImageGen调整为青绿配色 不代表真实医院场景或产品运行截图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 已确认的16页示范医院建设进展方案第2页</a:t>
            </a:r>
          </a:p>
          <a:p xmlns:a="http://schemas.openxmlformats.org/drawingml/2006/main">
            <a:r>
              <a:t>视觉模板 水木青绿源第4页 封面 标题栏与医院标识继承原始原生对象</a:t>
            </a:r>
          </a:p>
          <a:p xmlns:a="http://schemas.openxmlformats.org/drawingml/2006/main">
            <a:r>
              <a:t>装饰背景与线描插画经内置ImageGen调整为青绿配色 不代表真实医院场景或产品运行截图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 已确认的16页示范医院建设进展方案第3页</a:t>
            </a:r>
          </a:p>
          <a:p xmlns:a="http://schemas.openxmlformats.org/drawingml/2006/main">
            <a:r>
              <a:t>视觉模板 水木青绿源第4页 封面 标题栏与医院标识继承原始原生对象</a:t>
            </a:r>
          </a:p>
          <a:p xmlns:a="http://schemas.openxmlformats.org/drawingml/2006/main">
            <a:r>
              <a:t>装饰背景与线描插画经内置ImageGen调整为青绿配色 不代表真实医院场景或产品运行截图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 已确认的16页示范医院建设进展方案第4页</a:t>
            </a:r>
          </a:p>
          <a:p xmlns:a="http://schemas.openxmlformats.org/drawingml/2006/main">
            <a:r>
              <a:t>视觉模板 水木青绿源第4页 封面 标题栏与医院标识继承原始原生对象</a:t>
            </a:r>
          </a:p>
          <a:p xmlns:a="http://schemas.openxmlformats.org/drawingml/2006/main">
            <a:r>
              <a:t>装饰背景与线描插画经内置ImageGen调整为青绿配色 不代表真实医院场景或产品运行截图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 已确认的16页示范医院建设进展方案第5页</a:t>
            </a:r>
          </a:p>
          <a:p xmlns:a="http://schemas.openxmlformats.org/drawingml/2006/main">
            <a:r>
              <a:t>视觉模板 水木青绿源第4页 封面 标题栏与医院标识继承原始原生对象</a:t>
            </a:r>
          </a:p>
          <a:p xmlns:a="http://schemas.openxmlformats.org/drawingml/2006/main">
            <a:r>
              <a:t>装饰背景与线描插画经内置ImageGen调整为青绿配色 不代表真实医院场景或产品运行截图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 已确认的16页示范医院建设进展方案第6页</a:t>
            </a:r>
          </a:p>
          <a:p xmlns:a="http://schemas.openxmlformats.org/drawingml/2006/main">
            <a:r>
              <a:t>视觉模板 水木青绿源第4页 封面 标题栏与医院标识继承原始原生对象</a:t>
            </a:r>
          </a:p>
          <a:p xmlns:a="http://schemas.openxmlformats.org/drawingml/2006/main">
            <a:r>
              <a:t>装饰背景与线描插画经内置ImageGen调整为青绿配色 不代表真实医院场景或产品运行截图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 已确认的16页示范医院建设进展方案第7页</a:t>
            </a:r>
          </a:p>
          <a:p xmlns:a="http://schemas.openxmlformats.org/drawingml/2006/main">
            <a:r>
              <a:t>视觉模板 水木青绿源第4页 封面 标题栏与医院标识继承原始原生对象</a:t>
            </a:r>
          </a:p>
          <a:p xmlns:a="http://schemas.openxmlformats.org/drawingml/2006/main">
            <a:r>
              <a:t>装饰背景与线描插画经内置ImageGen调整为青绿配色 不代表真实医院场景或产品运行截图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 已确认的16页示范医院建设进展方案第8页</a:t>
            </a:r>
          </a:p>
          <a:p xmlns:a="http://schemas.openxmlformats.org/drawingml/2006/main">
            <a:r>
              <a:t>视觉模板 水木青绿源第4页 封面 标题栏与医院标识继承原始原生对象</a:t>
            </a:r>
          </a:p>
          <a:p xmlns:a="http://schemas.openxmlformats.org/drawingml/2006/main">
            <a:r>
              <a:t>装饰背景与线描插画经内置ImageGen调整为青绿配色 不代表真实医院场景或产品运行截图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 已确认的16页示范医院建设进展方案第9页</a:t>
            </a:r>
          </a:p>
          <a:p xmlns:a="http://schemas.openxmlformats.org/drawingml/2006/main">
            <a:r>
              <a:t>视觉模板 水木青绿源第4页 封面 标题栏与医院标识继承原始原生对象</a:t>
            </a:r>
          </a:p>
          <a:p xmlns:a="http://schemas.openxmlformats.org/drawingml/2006/main">
            <a:r>
              <a:t>装饰背景与线描插画经内置ImageGen调整为青绿配色 不代表真实医院场景或产品运行截图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 已确认的16页示范医院建设进展方案第10页</a:t>
            </a:r>
          </a:p>
          <a:p xmlns:a="http://schemas.openxmlformats.org/drawingml/2006/main">
            <a:r>
              <a:t>视觉模板 水木青绿源第4页 封面 标题栏与医院标识继承原始原生对象</a:t>
            </a:r>
          </a:p>
          <a:p xmlns:a="http://schemas.openxmlformats.org/drawingml/2006/main">
            <a:r>
              <a:t>装饰背景与线描插画经内置ImageGen调整为青绿配色 不代表真实医院场景或产品运行截图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 已确认的16页示范医院建设进展方案第11页</a:t>
            </a:r>
          </a:p>
          <a:p xmlns:a="http://schemas.openxmlformats.org/drawingml/2006/main">
            <a:r>
              <a:t>视觉模板 水木青绿源第4页 封面 标题栏与医院标识继承原始原生对象</a:t>
            </a:r>
          </a:p>
          <a:p xmlns:a="http://schemas.openxmlformats.org/drawingml/2006/main">
            <a:r>
              <a:t>装饰背景与线描插画经内置ImageGen调整为青绿配色 不代表真实医院场景或产品运行截图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 已确认的16页示范医院建设进展方案第12页</a:t>
            </a:r>
          </a:p>
          <a:p xmlns:a="http://schemas.openxmlformats.org/drawingml/2006/main">
            <a:r>
              <a:t>视觉模板 水木青绿源第4页 封面 标题栏与医院标识继承原始原生对象</a:t>
            </a:r>
          </a:p>
          <a:p xmlns:a="http://schemas.openxmlformats.org/drawingml/2006/main">
            <a:r>
              <a:t>装饰背景与线描插画经内置ImageGen调整为青绿配色 不代表真实医院场景或产品运行截图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 已确认的16页示范医院建设进展方案第13页</a:t>
            </a:r>
          </a:p>
          <a:p xmlns:a="http://schemas.openxmlformats.org/drawingml/2006/main">
            <a:r>
              <a:t>视觉模板 水木青绿源第4页 封面 标题栏与医院标识继承原始原生对象</a:t>
            </a:r>
          </a:p>
          <a:p xmlns:a="http://schemas.openxmlformats.org/drawingml/2006/main">
            <a:r>
              <a:t>装饰背景与线描插画经内置ImageGen调整为青绿配色 不代表真实医院场景或产品运行截图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 已确认的16页示范医院建设进展方案第14页</a:t>
            </a:r>
          </a:p>
          <a:p xmlns:a="http://schemas.openxmlformats.org/drawingml/2006/main">
            <a:r>
              <a:t>视觉模板 水木青绿源第4页 封面 标题栏与医院标识继承原始原生对象</a:t>
            </a:r>
          </a:p>
          <a:p xmlns:a="http://schemas.openxmlformats.org/drawingml/2006/main">
            <a:r>
              <a:t>装饰背景与线描插画经内置ImageGen调整为青绿配色 不代表真实医院场景或产品运行截图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 已确认的16页示范医院建设进展方案第15页</a:t>
            </a:r>
          </a:p>
          <a:p xmlns:a="http://schemas.openxmlformats.org/drawingml/2006/main">
            <a:r>
              <a:t>视觉模板 水木青绿源第4页 封面 标题栏与医院标识继承原始原生对象</a:t>
            </a:r>
          </a:p>
          <a:p xmlns:a="http://schemas.openxmlformats.org/drawingml/2006/main">
            <a:r>
              <a:t>装饰背景与线描插画经内置ImageGen调整为青绿配色 不代表真实医院场景或产品运行截图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4bdc10b1cf42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378e772bce48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9fdbdad5ee43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1ce39ce0947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a1d21fe4664c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6e6feb8cb4f5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07b7bc52e9459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43ec8bb754a7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6b2b3663de448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86e63c451c448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e33d605dc141c1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1797C26-0F64-41AC-8B07-0CE02E8EC84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lnSpc>
                <a:spcPct val="130000"/>
              </a:lnSpc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0CAB6DE-3D5B-49DE-BB5A-AAF6987594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2025/8/8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169DB38-7F59-4A75-9F2B-25C0C1E25B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0CD2F4-077B-4553-8A2D-D21DE0DB2A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E3AB4A8-5D9B-460F-9FAC-28011240FDF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1478B3D-F283-4D3F-9F3B-4A060023AA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EBF955C-9B47-4169-B967-FDCE3321872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1512293-CAC8-4FE6-B171-20D0199BD9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2025/8/8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14EBFDD-A6C0-4E15-B9C0-AB0C9C6755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2494D0C-0961-424C-BF83-EDF6AA5CB0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3BF18CB-B69D-4E72-9AFF-23F07FA2EE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B5BBB0-6C1B-4D0D-B79A-2F5CE5503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02802F5-CEFE-455E-BB89-A345838FA1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2025/8/8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6FEAD40-6542-4A1B-966E-1787581A58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AEB0F6B-1C9B-47BF-8DB8-C5F2AFC1E4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037754-E443-4703-BDD8-07053FAA09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0D23DF2-4B1B-4B26-B5D5-C08C40BAE4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AA10163-852C-46EB-B323-DA63CA9BD4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6A11434-B6A0-47CC-9C66-C708CEDA05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2025/8/8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52577C6-3779-47F9-9DF8-B51B951E75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4BC53DD-7038-4CD8-99A9-4305C7848D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37C159F-6B75-40C6-AA0A-39B797C1EA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F2BE3F5-50C5-45F6-A6AE-889937430B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CE5E0B0-649B-41CB-810A-B8A89C969D4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3C88571-9373-4633-9CEC-E47DC377234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38D386D-FC97-4CC1-9A7A-9D925F074B3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CE72EE1E-87BA-4628-B017-856B5995B7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2025/8/8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B177BE6-AA98-4BC4-9C67-AD9D3A5776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678C054-42D2-468A-9DBB-904F77182A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7EBFEB-D1BB-4F46-915D-D532517BA4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4CA71CB-F396-4045-A4F8-E0E2EFBB51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2025/8/8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F2D96FF-5984-4192-A8F5-9EE0F9AE08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4578C5F-B810-4E66-B733-0B7483689F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2B6D044-8D67-4A57-AD5E-D9B2DE4907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2025/8/8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672EA69-A269-4E59-A71E-D93872FC3B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69918E-42DB-4ADD-A179-2DC8E009A4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05B80E1-986A-4B2B-A3B1-060C8D1902B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88B28375-B267-4898-BA65-18AA52AAD06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8764966-11E4-45AF-AE7C-2ED0471CB9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AFF4B37-5D72-4F7D-91F3-804B007306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EFD9D74-47D9-4702-A33C-335B63B48DBF}" type="datetimeFigureOut">
              <a:t>2025/8/8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832CE55-10B2-4343-A7EE-9300DF11B0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B59FD70-06E7-4753-86E4-8CF91CB325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BC47A4-756D-490B-A52F-7D9E2C9FC05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1F0D7F2-5A48-4A5F-8966-A50C11308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A2B4A96-2E0A-48A2-AFDB-69A1C2A9E8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B496C61-F219-4CE9-BC29-A00113EE5F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2025/8/8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664411-D136-4D9E-9527-1CCACCA0F7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0316347-B225-4751-B1DD-9D91B53DA5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CB9605A-B625-4FA7-8BEF-4DF7312BEF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2025/8/8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CD66A86-2F2D-4437-ABAC-EF261C59D2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C1EDF01-CC81-4905-A888-42133152B7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FC096236-E954-4756-A5A1-0ECDBA9E8A98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6ae211eeb747b2" /><Relationship Type="http://schemas.openxmlformats.org/officeDocument/2006/relationships/slideLayout" Target="/ppt/slideLayouts/slideLayout1.xml" Id="Ra4c73384ce944366" /><Relationship Type="http://schemas.openxmlformats.org/officeDocument/2006/relationships/slideLayout" Target="/ppt/slideLayouts/slideLayout2.xml" Id="R5f8f545cb60d4161" /><Relationship Type="http://schemas.openxmlformats.org/officeDocument/2006/relationships/slideLayout" Target="/ppt/slideLayouts/slideLayout3.xml" Id="Rf9e50b02a7204262" /><Relationship Type="http://schemas.openxmlformats.org/officeDocument/2006/relationships/slideLayout" Target="/ppt/slideLayouts/slideLayout4.xml" Id="R1e2b6d7ce78e4947" /><Relationship Type="http://schemas.openxmlformats.org/officeDocument/2006/relationships/slideLayout" Target="/ppt/slideLayouts/slideLayout5.xml" Id="Ra7f586a30d3a446f" /><Relationship Type="http://schemas.openxmlformats.org/officeDocument/2006/relationships/slideLayout" Target="/ppt/slideLayouts/slideLayout6.xml" Id="Rfe7aa81d378148b7" /><Relationship Type="http://schemas.openxmlformats.org/officeDocument/2006/relationships/slideLayout" Target="/ppt/slideLayouts/slideLayout7.xml" Id="Ra721b526750e4a7e" /><Relationship Type="http://schemas.openxmlformats.org/officeDocument/2006/relationships/slideLayout" Target="/ppt/slideLayouts/slideLayout8.xml" Id="R765d74deb7744f32" /><Relationship Type="http://schemas.openxmlformats.org/officeDocument/2006/relationships/slideLayout" Target="/ppt/slideLayouts/slideLayout9.xml" Id="R9c7000040ef0468e" /><Relationship Type="http://schemas.openxmlformats.org/officeDocument/2006/relationships/slideLayout" Target="/ppt/slideLayouts/slideLayout10.xml" Id="Re3d6312d8daf40ad" /><Relationship Type="http://schemas.openxmlformats.org/officeDocument/2006/relationships/slideLayout" Target="/ppt/slideLayouts/slideLayout11.xml" Id="Rfeb5e62334704cb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FF82FBD-B065-492B-AE77-9F1E2BC7A7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9B1A18F-F05F-4B76-8FDC-20D6CEEC73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A039744-7D7C-45F3-AC56-1A4C45F075A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60FBDFE-C587-4B4C-A407-44438C67B59E}" type="datetimeFigureOut">
              <a:t>2025/8/8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499F955-1A5D-4D25-9247-3E1CBC8266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2E94DD5-44BB-4F95-BB09-EDF67CDCAB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c73384ce944366"/>
    <p:sldLayoutId xmlns:r="http://schemas.openxmlformats.org/officeDocument/2006/relationships" id="2147483650" r:id="R5f8f545cb60d4161"/>
    <p:sldLayoutId xmlns:r="http://schemas.openxmlformats.org/officeDocument/2006/relationships" id="2147483651" r:id="Rf9e50b02a7204262"/>
    <p:sldLayoutId xmlns:r="http://schemas.openxmlformats.org/officeDocument/2006/relationships" id="2147483652" r:id="R1e2b6d7ce78e4947"/>
    <p:sldLayoutId xmlns:r="http://schemas.openxmlformats.org/officeDocument/2006/relationships" id="2147483653" r:id="Ra7f586a30d3a446f"/>
    <p:sldLayoutId xmlns:r="http://schemas.openxmlformats.org/officeDocument/2006/relationships" id="2147483654" r:id="Rfe7aa81d378148b7"/>
    <p:sldLayoutId xmlns:r="http://schemas.openxmlformats.org/officeDocument/2006/relationships" id="2147483655" r:id="Ra721b526750e4a7e"/>
    <p:sldLayoutId xmlns:r="http://schemas.openxmlformats.org/officeDocument/2006/relationships" id="2147483656" r:id="R765d74deb7744f32"/>
    <p:sldLayoutId xmlns:r="http://schemas.openxmlformats.org/officeDocument/2006/relationships" id="2147483657" r:id="R9c7000040ef0468e"/>
    <p:sldLayoutId xmlns:r="http://schemas.openxmlformats.org/officeDocument/2006/relationships" id="2147483658" r:id="Re3d6312d8daf40ad"/>
    <p:sldLayoutId xmlns:r="http://schemas.openxmlformats.org/officeDocument/2006/relationships" id="2147483659" r:id="Rfeb5e62334704cb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d4f38af1d41fe" /><Relationship Type="http://schemas.openxmlformats.org/officeDocument/2006/relationships/image" Target="/ppt/media/image.png" Id="Rd125af0a448948a8" /><Relationship Type="http://schemas.openxmlformats.org/officeDocument/2006/relationships/image" Target="/ppt/media/image2.png" Id="R526bc35dd78d476c" /><Relationship Type="http://schemas.openxmlformats.org/officeDocument/2006/relationships/notesSlide" Target="/ppt/notesSlides/notesSlide1.xml" Id="R960437375a7d43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7fad56a0e94841" /><Relationship Type="http://schemas.openxmlformats.org/officeDocument/2006/relationships/image" Target="/ppt/media/image2.png" Id="Ra5414c1027f64d9e" /><Relationship Type="http://schemas.openxmlformats.org/officeDocument/2006/relationships/image" Target="/ppt/media/image3.png" Id="R55ae63f7732d45a3" /><Relationship Type="http://schemas.openxmlformats.org/officeDocument/2006/relationships/notesSlide" Target="/ppt/notesSlides/notesSlide2.xml" Id="Rbe02a4fb541a4a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9c70683a5340e9" /><Relationship Type="http://schemas.openxmlformats.org/officeDocument/2006/relationships/image" Target="/ppt/media/image2.png" Id="R8567483aa0784f69" /><Relationship Type="http://schemas.openxmlformats.org/officeDocument/2006/relationships/image" Target="/ppt/media/image4.png" Id="R4dc88196f22f4ec0" /><Relationship Type="http://schemas.openxmlformats.org/officeDocument/2006/relationships/notesSlide" Target="/ppt/notesSlides/notesSlide3.xml" Id="Re7f6852fffe745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9052a128f74707" /><Relationship Type="http://schemas.openxmlformats.org/officeDocument/2006/relationships/image" Target="/ppt/media/image2.png" Id="R69cf719817664830" /><Relationship Type="http://schemas.openxmlformats.org/officeDocument/2006/relationships/image" Target="/ppt/media/image5.png" Id="R8f8c8464698743a2" /><Relationship Type="http://schemas.openxmlformats.org/officeDocument/2006/relationships/notesSlide" Target="/ppt/notesSlides/notesSlide4.xml" Id="R4ea843060e5642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4b29d4348045b4" /><Relationship Type="http://schemas.openxmlformats.org/officeDocument/2006/relationships/image" Target="/ppt/media/image2.png" Id="R66948fd1bead4155" /><Relationship Type="http://schemas.openxmlformats.org/officeDocument/2006/relationships/image" Target="/ppt/media/image6.png" Id="R56f3be36755840c9" /><Relationship Type="http://schemas.openxmlformats.org/officeDocument/2006/relationships/notesSlide" Target="/ppt/notesSlides/notesSlide5.xml" Id="R1532bd3e376e40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1da84ae0024912" /><Relationship Type="http://schemas.openxmlformats.org/officeDocument/2006/relationships/image" Target="/ppt/media/image2.png" Id="Rfa4c5ada112249e7" /><Relationship Type="http://schemas.openxmlformats.org/officeDocument/2006/relationships/image" Target="/ppt/media/image7.png" Id="R33ad0acef49d47ee" /><Relationship Type="http://schemas.openxmlformats.org/officeDocument/2006/relationships/image" Target="/ppt/media/image8.png" Id="Ra2505c675e034cea" /><Relationship Type="http://schemas.openxmlformats.org/officeDocument/2006/relationships/notesSlide" Target="/ppt/notesSlides/notesSlide6.xml" Id="R462ef6d1b7cd4b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c9d5ca98c14dda" /><Relationship Type="http://schemas.openxmlformats.org/officeDocument/2006/relationships/image" Target="/ppt/media/image2.png" Id="R60a54726fff04914" /><Relationship Type="http://schemas.openxmlformats.org/officeDocument/2006/relationships/image" Target="/ppt/media/image9.png" Id="R30dd11ea5c974b5b" /><Relationship Type="http://schemas.openxmlformats.org/officeDocument/2006/relationships/notesSlide" Target="/ppt/notesSlides/notesSlide7.xml" Id="R48d355b9c3894c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f73a9bfd2c4077" /><Relationship Type="http://schemas.openxmlformats.org/officeDocument/2006/relationships/image" Target="/ppt/media/image2.png" Id="R13dba7417142467c" /><Relationship Type="http://schemas.openxmlformats.org/officeDocument/2006/relationships/image" Target="/ppt/media/image10.png" Id="Ra4b048f583aa498f" /><Relationship Type="http://schemas.openxmlformats.org/officeDocument/2006/relationships/notesSlide" Target="/ppt/notesSlides/notesSlide8.xml" Id="R6bfc754035f949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1ae82b0fbe4e63" /><Relationship Type="http://schemas.openxmlformats.org/officeDocument/2006/relationships/image" Target="/ppt/media/image2.png" Id="Rcf5b5de26e9e4a61" /><Relationship Type="http://schemas.openxmlformats.org/officeDocument/2006/relationships/image" Target="/ppt/media/image11.png" Id="R496148445c4440ad" /><Relationship Type="http://schemas.openxmlformats.org/officeDocument/2006/relationships/notesSlide" Target="/ppt/notesSlides/notesSlide9.xml" Id="Ra8de8b8e3fd04c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d3ccf7ea1e4102" /><Relationship Type="http://schemas.openxmlformats.org/officeDocument/2006/relationships/image" Target="/ppt/media/image2.png" Id="R7777bf08f8914254" /><Relationship Type="http://schemas.openxmlformats.org/officeDocument/2006/relationships/image" Target="/ppt/media/image12.png" Id="Rd4a129fcebbe488f" /><Relationship Type="http://schemas.openxmlformats.org/officeDocument/2006/relationships/notesSlide" Target="/ppt/notesSlides/notesSlide10.xml" Id="R38edf06817bf4e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568784b7df4261" /><Relationship Type="http://schemas.openxmlformats.org/officeDocument/2006/relationships/image" Target="/ppt/media/image2.png" Id="Rceca384ffc834dfe" /><Relationship Type="http://schemas.openxmlformats.org/officeDocument/2006/relationships/image" Target="/ppt/media/image13.png" Id="R9f9b414992754c7a" /><Relationship Type="http://schemas.openxmlformats.org/officeDocument/2006/relationships/image" Target="/ppt/media/image14.png" Id="Rc5669f80489941b6" /><Relationship Type="http://schemas.openxmlformats.org/officeDocument/2006/relationships/notesSlide" Target="/ppt/notesSlides/notesSlide11.xml" Id="R61c7c33a992541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e44f18cc3b4eef" /><Relationship Type="http://schemas.openxmlformats.org/officeDocument/2006/relationships/image" Target="/ppt/media/image2.png" Id="Rfee596aff9be4cdc" /><Relationship Type="http://schemas.openxmlformats.org/officeDocument/2006/relationships/image" Target="/ppt/media/image15.png" Id="Rddcfa1be29a248b6" /><Relationship Type="http://schemas.openxmlformats.org/officeDocument/2006/relationships/image" Target="/ppt/media/image16.png" Id="Rc8310c8bf53c44a0" /><Relationship Type="http://schemas.openxmlformats.org/officeDocument/2006/relationships/notesSlide" Target="/ppt/notesSlides/notesSlide12.xml" Id="R161b0afb9d9646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41acf2d7d94c16" /><Relationship Type="http://schemas.openxmlformats.org/officeDocument/2006/relationships/image" Target="/ppt/media/image2.png" Id="Rd9c2ea3f52b444f9" /><Relationship Type="http://schemas.openxmlformats.org/officeDocument/2006/relationships/image" Target="/ppt/media/image17.png" Id="R39ef290457934f3d" /><Relationship Type="http://schemas.openxmlformats.org/officeDocument/2006/relationships/notesSlide" Target="/ppt/notesSlides/notesSlide13.xml" Id="R7a9b6bbaf7854c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e13bb9a1844348" /><Relationship Type="http://schemas.openxmlformats.org/officeDocument/2006/relationships/image" Target="/ppt/media/image2.png" Id="R04ef5f83d89c4371" /><Relationship Type="http://schemas.openxmlformats.org/officeDocument/2006/relationships/image" Target="/ppt/media/image18.png" Id="Rde4a99004a684463" /><Relationship Type="http://schemas.openxmlformats.org/officeDocument/2006/relationships/notesSlide" Target="/ppt/notesSlides/notesSlide14.xml" Id="R2cf9a1d84bcd41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741d96254a4172" /><Relationship Type="http://schemas.openxmlformats.org/officeDocument/2006/relationships/image" Target="/ppt/media/image2.png" Id="Rff8c91f510684ade" /><Relationship Type="http://schemas.openxmlformats.org/officeDocument/2006/relationships/image" Target="/ppt/media/image19.png" Id="R5cae863b62374dce" /><Relationship Type="http://schemas.openxmlformats.org/officeDocument/2006/relationships/notesSlide" Target="/ppt/notesSlides/notesSlide15.xml" Id="R523ba21f822149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b988d144f844c2" /><Relationship Type="http://schemas.openxmlformats.org/officeDocument/2006/relationships/image" Target="/ppt/media/image2.png" Id="R9a59fd74c77c4ece" /><Relationship Type="http://schemas.openxmlformats.org/officeDocument/2006/relationships/image" Target="/ppt/media/image20.png" Id="R6a59f70bd89442db" /><Relationship Type="http://schemas.openxmlformats.org/officeDocument/2006/relationships/notesSlide" Target="/ppt/notesSlides/notesSlide16.xml" Id="R1f5bf206d7ea49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01-template-buildi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5af0a448948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26035"/>
            <a:ext cx="12192000" cy="4071620"/>
          </a:xfrm>
          <a:prstGeom xmlns:a="http://schemas.openxmlformats.org/drawingml/2006/main" prst="rect">
            <a:avLst/>
          </a:prstGeom>
        </p:spPr>
      </p:pic>
      <p:sp>
        <p:nvSpPr>
          <p:cNvPr id="14" name="P01-template-tab">
            <a:extLst xmlns:a="http://schemas.openxmlformats.org/drawingml/2006/main">
              <a:ext uri="{FF2B5EF4-FFF2-40B4-BE49-F238E27FC236}">
                <a16:creationId xmlns:a16="http://schemas.microsoft.com/office/drawing/2014/main" id="{C9747A67-F865-4DDE-87F2-C4B3F145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29385" y="2302510"/>
            <a:ext cx="518160" cy="3406775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rgbClr val="66A89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P01-cover-heading">
            <a:extLst xmlns:a="http://schemas.openxmlformats.org/drawingml/2006/main">
              <a:ext uri="{FF2B5EF4-FFF2-40B4-BE49-F238E27FC236}">
                <a16:creationId xmlns:a16="http://schemas.microsoft.com/office/drawing/2014/main" id="{D8DBA9F1-025B-4AAB-BC1D-7CF1704B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35" y="930910"/>
            <a:ext cx="10121265" cy="2109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00" b="1" i="1">
                <a:solidFill>
                  <a:schemeClr val="bg1"/>
                </a:solidFill>
                <a:latin typeface="华文中宋"/>
                <a:ea typeface="华文中宋"/>
                <a:cs typeface="华文中宋"/>
              </a:rPr>
              <a:t> </a:t>
            </a:r>
            <a:r>
              <a:rPr sz="8200" b="1" i="1">
                <a:solidFill>
                  <a:schemeClr val="bg1"/>
                </a:solidFill>
                <a:latin typeface="华文中宋"/>
                <a:ea typeface="华文中宋"/>
                <a:cs typeface="华文中宋"/>
              </a:rPr>
              <a:t>2026</a:t>
            </a:r>
            <a:r>
              <a:rPr sz="8200" b="1" i="1">
                <a:solidFill>
                  <a:schemeClr val="bg1"/>
                </a:solidFill>
                <a:latin typeface="华文中宋"/>
                <a:ea typeface="华文中宋"/>
                <a:cs typeface="华文中宋"/>
              </a:rPr>
              <a:t> </a:t>
            </a:r>
          </a:p>
          <a:p xmlns:a="http://schemas.openxmlformats.org/drawingml/2006/main">
            <a: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00" b="1" i="1">
                <a:solidFill>
                  <a:schemeClr val="bg1"/>
                </a:solidFill>
                <a:latin typeface="华文中宋"/>
                <a:ea typeface="华文中宋"/>
                <a:cs typeface="华文中宋"/>
              </a:rPr>
              <a:t>      </a:t>
            </a:r>
            <a:r>
              <a:rPr sz="8200" b="1" i="1">
                <a:solidFill>
                  <a:schemeClr val="bg1"/>
                </a:solidFill>
                <a:latin typeface="华文中宋"/>
                <a:ea typeface="华文中宋"/>
                <a:cs typeface="华文中宋"/>
              </a:rPr>
              <a:t>应用示范</a:t>
            </a:r>
          </a:p>
        </p:txBody>
      </p:sp>
      <p:sp>
        <p:nvSpPr>
          <p:cNvPr id="15" name="P01-template-label">
            <a:extLst xmlns:a="http://schemas.openxmlformats.org/drawingml/2006/main">
              <a:ext uri="{FF2B5EF4-FFF2-40B4-BE49-F238E27FC236}">
                <a16:creationId xmlns:a16="http://schemas.microsoft.com/office/drawing/2014/main" id="{84546270-FAC6-4C2E-B9AE-5DCCACE7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12" y="3822097"/>
            <a:ext cx="3037237" cy="3988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示范医院建设</a:t>
            </a:r>
          </a:p>
        </p:txBody>
      </p:sp>
      <p:sp>
        <p:nvSpPr>
          <p:cNvPr id="16" name="P01-title">
            <a:extLst xmlns:a="http://schemas.openxmlformats.org/drawingml/2006/main">
              <a:ext uri="{FF2B5EF4-FFF2-40B4-BE49-F238E27FC236}">
                <a16:creationId xmlns:a16="http://schemas.microsoft.com/office/drawing/2014/main" id="{FF5F6525-7587-4C72-A5FA-759F9611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12" y="4519327"/>
            <a:ext cx="10393680" cy="8299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示范医院建设进展与现场示范方案</a:t>
            </a:r>
          </a:p>
        </p:txBody>
      </p:sp>
      <p:sp>
        <p:nvSpPr>
          <p:cNvPr id="3" name="P01-details">
            <a:extLst xmlns:a="http://schemas.openxmlformats.org/drawingml/2006/main">
              <a:ext uri="{FF2B5EF4-FFF2-40B4-BE49-F238E27FC236}">
                <a16:creationId xmlns:a16="http://schemas.microsoft.com/office/drawing/2014/main" id="{C6F88015-1F35-4F5B-9124-91D90240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12" y="5324475"/>
            <a:ext cx="6819900" cy="131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清华大学附属北京清华长庚医院 汇报</a:t>
            </a:r>
            <a:endParaRPr sz="2000" b="1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国家重点研发计划“BT/IT生物与信息融合”重点专项</a:t>
            </a:r>
          </a:p>
          <a:p xmlns:a="http://schemas.openxmlformats.org/drawingml/2006/main">
            <a:pPr algn="l">
              <a:buNone/>
              <a:def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2024YFF1207000</a:t>
            </a:r>
          </a:p>
          <a:p xmlns:a="http://schemas.openxmlformats.org/drawingml/2006/main">
            <a:pPr algn="l">
              <a:buNone/>
              <a:def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2026年9月22日  北京友谊医院通州院区</a:t>
            </a:r>
          </a:p>
        </p:txBody>
      </p:sp>
      <p:pic>
        <p:nvPicPr>
          <p:cNvPr id="25" name="P01-template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bc35dd78d47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39710" y="5732780"/>
            <a:ext cx="3946525" cy="678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6361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" name="P02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e63f7732d45a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0" name="P02-subtitle">
            <a:extLst xmlns:a="http://schemas.openxmlformats.org/drawingml/2006/main">
              <a:ext uri="{FF2B5EF4-FFF2-40B4-BE49-F238E27FC236}">
                <a16:creationId xmlns:a16="http://schemas.microsoft.com/office/drawing/2014/main" id="{1DAAE135-D621-4745-A667-CBC1AB60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拟定三院示范布局 具体名单以项目组确认为准</a:t>
            </a:r>
          </a:p>
        </p:txBody>
      </p:sp>
      <p:sp>
        <p:nvSpPr>
          <p:cNvPr id="41" name="P02-conclusion-band">
            <a:extLst xmlns:a="http://schemas.openxmlformats.org/drawingml/2006/main">
              <a:ext uri="{FF2B5EF4-FFF2-40B4-BE49-F238E27FC236}">
                <a16:creationId xmlns:a16="http://schemas.microsoft.com/office/drawing/2014/main" id="{FF8D2B07-CEBA-4457-90A8-1AB1EB22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91225"/>
            <a:ext cx="112776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0">
            <a:noFill/>
          </a:ln>
        </p:spPr>
      </p:sp>
      <p:sp>
        <p:nvSpPr>
          <p:cNvPr id="42" name="P02-conclusion">
            <a:extLst xmlns:a="http://schemas.openxmlformats.org/drawingml/2006/main">
              <a:ext uri="{FF2B5EF4-FFF2-40B4-BE49-F238E27FC236}">
                <a16:creationId xmlns:a16="http://schemas.microsoft.com/office/drawing/2014/main" id="{25141D44-FEAE-4667-8D62-8E725917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67425"/>
            <a:ext cx="10896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以统一平台与共用示范口径推进建设 共同支撑2027年2月项目整体验收</a:t>
            </a:r>
          </a:p>
        </p:txBody>
      </p:sp>
      <p:sp>
        <p:nvSpPr>
          <p:cNvPr id="43" name="P02-footer">
            <a:extLst xmlns:a="http://schemas.openxmlformats.org/drawingml/2006/main">
              <a:ext uri="{FF2B5EF4-FFF2-40B4-BE49-F238E27FC236}">
                <a16:creationId xmlns:a16="http://schemas.microsoft.com/office/drawing/2014/main" id="{ED154E8D-9083-4004-B924-8B99C1F7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1038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2024YFF1207000  临床研究病房智慧管理平台研发与应用示范</a:t>
            </a:r>
          </a:p>
        </p:txBody>
      </p:sp>
      <p:sp>
        <p:nvSpPr>
          <p:cNvPr id="44" name="P02-page">
            <a:extLst xmlns:a="http://schemas.openxmlformats.org/drawingml/2006/main">
              <a:ext uri="{FF2B5EF4-FFF2-40B4-BE49-F238E27FC236}">
                <a16:creationId xmlns:a16="http://schemas.microsoft.com/office/drawing/2014/main" id="{2B26E4A2-B2BD-4E26-AD38-A5512D05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5" name="P02-platform">
            <a:extLst xmlns:a="http://schemas.openxmlformats.org/drawingml/2006/main">
              <a:ext uri="{FF2B5EF4-FFF2-40B4-BE49-F238E27FC236}">
                <a16:creationId xmlns:a16="http://schemas.microsoft.com/office/drawing/2014/main" id="{F68C102E-6827-4509-BE11-736B144E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95475"/>
            <a:ext cx="2266950" cy="33718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0">
            <a:noFill/>
          </a:ln>
        </p:spPr>
      </p:sp>
      <p:sp>
        <p:nvSpPr>
          <p:cNvPr id="46" name="P02-platform-text">
            <a:extLst xmlns:a="http://schemas.openxmlformats.org/drawingml/2006/main">
              <a:ext uri="{FF2B5EF4-FFF2-40B4-BE49-F238E27FC236}">
                <a16:creationId xmlns:a16="http://schemas.microsoft.com/office/drawing/2014/main" id="{3604906B-BFA7-4F82-B174-D924BD1B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20764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临床研究病房</a:t>
            </a:r>
          </a:p>
          <a:p xmlns:a="http://schemas.openxmlformats.org/drawingml/2006/main">
            <a:pPr algn="ctr">
              <a:def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智慧管理平台</a:t>
            </a:r>
          </a:p>
        </p:txBody>
      </p:sp>
      <p:sp>
        <p:nvSpPr>
          <p:cNvPr id="47" name="P02-hospital-0">
            <a:extLst xmlns:a="http://schemas.openxmlformats.org/drawingml/2006/main">
              <a:ext uri="{FF2B5EF4-FFF2-40B4-BE49-F238E27FC236}">
                <a16:creationId xmlns:a16="http://schemas.microsoft.com/office/drawing/2014/main" id="{AC61788D-4B6A-4F6B-A842-698DF197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95475"/>
            <a:ext cx="2781300" cy="3371850"/>
          </a:xfrm>
          <a:prstGeom xmlns:a="http://schemas.openxmlformats.org/drawingml/2006/main" prst="roundRect">
            <a:avLst>
              <a:gd name="adj" fmla="val 3425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48" name="P02-hospital-0-n">
            <a:extLst xmlns:a="http://schemas.openxmlformats.org/drawingml/2006/main">
              <a:ext uri="{FF2B5EF4-FFF2-40B4-BE49-F238E27FC236}">
                <a16:creationId xmlns:a16="http://schemas.microsoft.com/office/drawing/2014/main" id="{E4C1E8DE-A5D7-4C7D-92E1-9C561E5E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24075"/>
            <a:ext cx="895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9" name="P02-hospital-0-title">
            <a:extLst xmlns:a="http://schemas.openxmlformats.org/drawingml/2006/main">
              <a:ext uri="{FF2B5EF4-FFF2-40B4-BE49-F238E27FC236}">
                <a16:creationId xmlns:a16="http://schemas.microsoft.com/office/drawing/2014/main" id="{7EB0FC1A-2767-4F73-8440-B677DD28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2362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北京清华长庚医院</a:t>
            </a:r>
          </a:p>
        </p:txBody>
      </p:sp>
      <p:sp>
        <p:nvSpPr>
          <p:cNvPr id="50" name="P02-hospital-0-position">
            <a:extLst xmlns:a="http://schemas.openxmlformats.org/drawingml/2006/main">
              <a:ext uri="{FF2B5EF4-FFF2-40B4-BE49-F238E27FC236}">
                <a16:creationId xmlns:a16="http://schemas.microsoft.com/office/drawing/2014/main" id="{F9B5CA9D-F903-4B68-9EA1-B57E6A69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平台承建与示范</a:t>
            </a:r>
          </a:p>
        </p:txBody>
      </p:sp>
      <p:sp>
        <p:nvSpPr>
          <p:cNvPr id="51" name="P02-hospital-0-status">
            <a:extLst xmlns:a="http://schemas.openxmlformats.org/drawingml/2006/main">
              <a:ext uri="{FF2B5EF4-FFF2-40B4-BE49-F238E27FC236}">
                <a16:creationId xmlns:a16="http://schemas.microsoft.com/office/drawing/2014/main" id="{C3FAD809-BDE9-44EB-97BD-931FD3C6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全量数据对接完成</a:t>
            </a:r>
          </a:p>
        </p:txBody>
      </p:sp>
      <p:sp>
        <p:nvSpPr>
          <p:cNvPr id="52" name="P02-hospital-1">
            <a:extLst xmlns:a="http://schemas.openxmlformats.org/drawingml/2006/main">
              <a:ext uri="{FF2B5EF4-FFF2-40B4-BE49-F238E27FC236}">
                <a16:creationId xmlns:a16="http://schemas.microsoft.com/office/drawing/2014/main" id="{5C7A0E66-C75A-4B1A-920D-8F62C8BD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95475"/>
            <a:ext cx="2781300" cy="3371850"/>
          </a:xfrm>
          <a:prstGeom xmlns:a="http://schemas.openxmlformats.org/drawingml/2006/main" prst="roundRect">
            <a:avLst>
              <a:gd name="adj" fmla="val 3425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53" name="P02-hospital-1-n">
            <a:extLst xmlns:a="http://schemas.openxmlformats.org/drawingml/2006/main">
              <a:ext uri="{FF2B5EF4-FFF2-40B4-BE49-F238E27FC236}">
                <a16:creationId xmlns:a16="http://schemas.microsoft.com/office/drawing/2014/main" id="{786F55E5-F30B-491E-9428-B2D18967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24075"/>
            <a:ext cx="895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4" name="P02-hospital-1-title">
            <a:extLst xmlns:a="http://schemas.openxmlformats.org/drawingml/2006/main">
              <a:ext uri="{FF2B5EF4-FFF2-40B4-BE49-F238E27FC236}">
                <a16:creationId xmlns:a16="http://schemas.microsoft.com/office/drawing/2014/main" id="{A07DB028-DEDE-448E-808F-9F09284C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2362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北京友谊医院</a:t>
            </a:r>
          </a:p>
        </p:txBody>
      </p:sp>
      <p:sp>
        <p:nvSpPr>
          <p:cNvPr id="55" name="P02-hospital-1-position">
            <a:extLst xmlns:a="http://schemas.openxmlformats.org/drawingml/2006/main">
              <a:ext uri="{FF2B5EF4-FFF2-40B4-BE49-F238E27FC236}">
                <a16:creationId xmlns:a16="http://schemas.microsoft.com/office/drawing/2014/main" id="{AC03BBE0-7E8A-4F31-B8FF-380860A4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195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存量系统整合型示范</a:t>
            </a:r>
          </a:p>
        </p:txBody>
      </p:sp>
      <p:sp>
        <p:nvSpPr>
          <p:cNvPr id="56" name="P02-hospital-1-status">
            <a:extLst xmlns:a="http://schemas.openxmlformats.org/drawingml/2006/main">
              <a:ext uri="{FF2B5EF4-FFF2-40B4-BE49-F238E27FC236}">
                <a16:creationId xmlns:a16="http://schemas.microsoft.com/office/drawing/2014/main" id="{56781F15-D616-418B-8109-2004F0CD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29125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院内部署完成</a:t>
            </a:r>
          </a:p>
          <a:p xmlns:a="http://schemas.openxmlformats.org/drawingml/2006/main">
            <a:pPr algn="l">
              <a:defRPr sz="1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9月7日完成培训</a:t>
            </a:r>
          </a:p>
        </p:txBody>
      </p:sp>
      <p:sp>
        <p:nvSpPr>
          <p:cNvPr id="57" name="P02-hospital-2">
            <a:extLst xmlns:a="http://schemas.openxmlformats.org/drawingml/2006/main">
              <a:ext uri="{FF2B5EF4-FFF2-40B4-BE49-F238E27FC236}">
                <a16:creationId xmlns:a16="http://schemas.microsoft.com/office/drawing/2014/main" id="{4FDBD570-3290-4C4E-8D60-DE887ED4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95475"/>
            <a:ext cx="2781300" cy="3371850"/>
          </a:xfrm>
          <a:prstGeom xmlns:a="http://schemas.openxmlformats.org/drawingml/2006/main" prst="roundRect">
            <a:avLst>
              <a:gd name="adj" fmla="val 3425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58" name="P02-hospital-2-n">
            <a:extLst xmlns:a="http://schemas.openxmlformats.org/drawingml/2006/main">
              <a:ext uri="{FF2B5EF4-FFF2-40B4-BE49-F238E27FC236}">
                <a16:creationId xmlns:a16="http://schemas.microsoft.com/office/drawing/2014/main" id="{0846CA49-3E24-4DB8-877C-A59AC556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24075"/>
            <a:ext cx="895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9" name="P02-hospital-2-title">
            <a:extLst xmlns:a="http://schemas.openxmlformats.org/drawingml/2006/main">
              <a:ext uri="{FF2B5EF4-FFF2-40B4-BE49-F238E27FC236}">
                <a16:creationId xmlns:a16="http://schemas.microsoft.com/office/drawing/2014/main" id="{AF57CED0-3576-4592-B17F-C10632B2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76550"/>
            <a:ext cx="2362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哈医大一附院</a:t>
            </a:r>
          </a:p>
        </p:txBody>
      </p:sp>
      <p:sp>
        <p:nvSpPr>
          <p:cNvPr id="60" name="P02-hospital-2-position">
            <a:extLst xmlns:a="http://schemas.openxmlformats.org/drawingml/2006/main">
              <a:ext uri="{FF2B5EF4-FFF2-40B4-BE49-F238E27FC236}">
                <a16:creationId xmlns:a16="http://schemas.microsoft.com/office/drawing/2014/main" id="{515DE25D-6B04-42F6-9180-EC2554A2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195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应用示范建设</a:t>
            </a:r>
          </a:p>
        </p:txBody>
      </p:sp>
      <p:sp>
        <p:nvSpPr>
          <p:cNvPr id="61" name="P02-hospital-2-status">
            <a:extLst xmlns:a="http://schemas.openxmlformats.org/drawingml/2006/main">
              <a:ext uri="{FF2B5EF4-FFF2-40B4-BE49-F238E27FC236}">
                <a16:creationId xmlns:a16="http://schemas.microsoft.com/office/drawing/2014/main" id="{0B079C4A-EF2E-4ED3-AC9F-1E4753B7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29125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启动会已召开</a:t>
            </a:r>
          </a:p>
        </p:txBody>
      </p:sp>
      <p:cxnSp>
        <p:nvCxnSpPr>
          <p:cNvPr id="89" name="P02-platform-link"/>
          <p:cNvCxnSpPr>
            <a:stCxn xmlns:a="http://schemas.openxmlformats.org/drawingml/2006/main" id="45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2724150" y="35814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sp>
        <p:nvSpPr>
          <p:cNvPr id="7" name="P02-template-header">
            <a:extLst xmlns:a="http://schemas.openxmlformats.org/drawingml/2006/main">
              <a:ext uri="{FF2B5EF4-FFF2-40B4-BE49-F238E27FC236}">
                <a16:creationId xmlns:a16="http://schemas.microsoft.com/office/drawing/2014/main" id="{EBF38723-F6C4-42BE-8015-40D5A3AB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35" y="-1270"/>
            <a:ext cx="12191365" cy="740410"/>
          </a:xfrm>
          <a:prstGeom xmlns:a="http://schemas.openxmlformats.org/drawingml/2006/main" prst="round1Rect">
            <a:avLst>
              <a:gd name="adj" fmla="val 27506"/>
            </a:avLst>
          </a:prstGeom>
          <a:gradFill xmlns:a="http://schemas.openxmlformats.org/drawingml/2006/main">
            <a:gsLst>
              <a:gs pos="74000">
                <a:srgbClr val="6AAA9A">
                  <a:alpha val="46000"/>
                </a:srgbClr>
              </a:gs>
              <a:gs pos="100000">
                <a:srgbClr val="7AB39B">
                  <a:alpha val="33000"/>
                </a:srgbClr>
              </a:gs>
              <a:gs pos="47000">
                <a:srgbClr val="5AA199">
                  <a:alpha val="75000"/>
                </a:srgbClr>
              </a:gs>
              <a:gs pos="15000">
                <a:srgbClr val="398F96">
                  <a:alpha val="10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02-title">
            <a:extLst xmlns:a="http://schemas.openxmlformats.org/drawingml/2006/main">
              <a:ext uri="{FF2B5EF4-FFF2-40B4-BE49-F238E27FC236}">
                <a16:creationId xmlns:a16="http://schemas.microsoft.com/office/drawing/2014/main" id="{0F61A04C-4A18-4554-8433-48EDBD9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7" y="77438"/>
            <a:ext cx="8877300" cy="583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示范医院总体布局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5" name="P02-template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14c1027f64d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3390" y="148590"/>
            <a:ext cx="2664460" cy="4578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660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3" name="P03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88196f22f4ec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0" name="P03-subtitle">
            <a:extLst xmlns:a="http://schemas.openxmlformats.org/drawingml/2006/main">
              <a:ext uri="{FF2B5EF4-FFF2-40B4-BE49-F238E27FC236}">
                <a16:creationId xmlns:a16="http://schemas.microsoft.com/office/drawing/2014/main" id="{C9DC4E73-CD6E-4996-91B8-85CAD05D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作为承建方与示范医院 先行完成院内全量数据对接</a:t>
            </a:r>
          </a:p>
        </p:txBody>
      </p:sp>
      <p:sp>
        <p:nvSpPr>
          <p:cNvPr id="41" name="P03-conclusion-band">
            <a:extLst xmlns:a="http://schemas.openxmlformats.org/drawingml/2006/main">
              <a:ext uri="{FF2B5EF4-FFF2-40B4-BE49-F238E27FC236}">
                <a16:creationId xmlns:a16="http://schemas.microsoft.com/office/drawing/2014/main" id="{E806CE97-9298-4643-B0D0-F3B5720B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91225"/>
            <a:ext cx="112776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0">
            <a:noFill/>
          </a:ln>
        </p:spPr>
      </p:sp>
      <p:sp>
        <p:nvSpPr>
          <p:cNvPr id="42" name="P03-conclusion">
            <a:extLst xmlns:a="http://schemas.openxmlformats.org/drawingml/2006/main">
              <a:ext uri="{FF2B5EF4-FFF2-40B4-BE49-F238E27FC236}">
                <a16:creationId xmlns:a16="http://schemas.microsoft.com/office/drawing/2014/main" id="{17E99C1D-E031-41E1-87FE-6AD1CE52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67425"/>
            <a:ext cx="10896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长庚已具备全流程运行条件 接口规范与数据字典可供示范医院复用</a:t>
            </a:r>
          </a:p>
        </p:txBody>
      </p:sp>
      <p:sp>
        <p:nvSpPr>
          <p:cNvPr id="43" name="P03-footer">
            <a:extLst xmlns:a="http://schemas.openxmlformats.org/drawingml/2006/main">
              <a:ext uri="{FF2B5EF4-FFF2-40B4-BE49-F238E27FC236}">
                <a16:creationId xmlns:a16="http://schemas.microsoft.com/office/drawing/2014/main" id="{69203DED-F73D-4B6E-892B-E88A684D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1038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2024YFF1207000  临床研究病房智慧管理平台研发与应用示范</a:t>
            </a:r>
          </a:p>
        </p:txBody>
      </p:sp>
      <p:sp>
        <p:nvSpPr>
          <p:cNvPr id="44" name="P03-page">
            <a:extLst xmlns:a="http://schemas.openxmlformats.org/drawingml/2006/main">
              <a:ext uri="{FF2B5EF4-FFF2-40B4-BE49-F238E27FC236}">
                <a16:creationId xmlns:a16="http://schemas.microsoft.com/office/drawing/2014/main" id="{8123FDB3-8C95-4B08-970B-10A4FDC7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5" name="P03-scope-number">
            <a:extLst xmlns:a="http://schemas.openxmlformats.org/drawingml/2006/main">
              <a:ext uri="{FF2B5EF4-FFF2-40B4-BE49-F238E27FC236}">
                <a16:creationId xmlns:a16="http://schemas.microsoft.com/office/drawing/2014/main" id="{F75563C2-DDB8-4A36-AE7F-1CB56DAF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6" name="P03-scope-heading">
            <a:extLst xmlns:a="http://schemas.openxmlformats.org/drawingml/2006/main">
              <a:ext uri="{FF2B5EF4-FFF2-40B4-BE49-F238E27FC236}">
                <a16:creationId xmlns:a16="http://schemas.microsoft.com/office/drawing/2014/main" id="{80CB6838-0D14-4964-B0B4-349E65E7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716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院内系统与数据</a:t>
            </a:r>
          </a:p>
        </p:txBody>
      </p:sp>
      <p:sp>
        <p:nvSpPr>
          <p:cNvPr id="47" name="P03-scope-body">
            <a:extLst xmlns:a="http://schemas.openxmlformats.org/drawingml/2006/main">
              <a:ext uri="{FF2B5EF4-FFF2-40B4-BE49-F238E27FC236}">
                <a16:creationId xmlns:a16="http://schemas.microsoft.com/office/drawing/2014/main" id="{21806E93-46E7-4C9D-9D25-E236A7B5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对接HIS  LIS  PACS  EMR等系统</a:t>
            </a:r>
          </a:p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覆盖门诊 住院 检验 检查</a:t>
            </a:r>
          </a:p>
        </p:txBody>
      </p:sp>
      <p:sp>
        <p:nvSpPr>
          <p:cNvPr id="48" name="P03-modality-number">
            <a:extLst xmlns:a="http://schemas.openxmlformats.org/drawingml/2006/main">
              <a:ext uri="{FF2B5EF4-FFF2-40B4-BE49-F238E27FC236}">
                <a16:creationId xmlns:a16="http://schemas.microsoft.com/office/drawing/2014/main" id="{72CA18F3-E4AE-4E7F-AA83-2E86D1BE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9" name="P03-modality-heading">
            <a:extLst xmlns:a="http://schemas.openxmlformats.org/drawingml/2006/main">
              <a:ext uri="{FF2B5EF4-FFF2-40B4-BE49-F238E27FC236}">
                <a16:creationId xmlns:a16="http://schemas.microsoft.com/office/drawing/2014/main" id="{30B9A30D-65B1-4BEA-80EA-A1E228CA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3类多模态接口</a:t>
            </a:r>
          </a:p>
        </p:txBody>
      </p:sp>
      <p:sp>
        <p:nvSpPr>
          <p:cNvPr id="50" name="P03-modality-body">
            <a:extLst xmlns:a="http://schemas.openxmlformats.org/drawingml/2006/main">
              <a:ext uri="{FF2B5EF4-FFF2-40B4-BE49-F238E27FC236}">
                <a16:creationId xmlns:a16="http://schemas.microsoft.com/office/drawing/2014/main" id="{0F067B21-3C2E-4DDF-BA99-92FC2678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文本 音频 视频接口已打通</a:t>
            </a:r>
          </a:p>
        </p:txBody>
      </p:sp>
      <p:sp>
        <p:nvSpPr>
          <p:cNvPr id="51" name="P03-modules-number">
            <a:extLst xmlns:a="http://schemas.openxmlformats.org/drawingml/2006/main">
              <a:ext uri="{FF2B5EF4-FFF2-40B4-BE49-F238E27FC236}">
                <a16:creationId xmlns:a16="http://schemas.microsoft.com/office/drawing/2014/main" id="{C1CA2B74-6769-468F-82A1-99713738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2" name="P03-modules-heading">
            <a:extLst xmlns:a="http://schemas.openxmlformats.org/drawingml/2006/main">
              <a:ext uri="{FF2B5EF4-FFF2-40B4-BE49-F238E27FC236}">
                <a16:creationId xmlns:a16="http://schemas.microsoft.com/office/drawing/2014/main" id="{9510EE22-91DC-40E0-B548-21E4CE35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全流程应用能力</a:t>
            </a:r>
          </a:p>
        </p:txBody>
      </p:sp>
      <p:sp>
        <p:nvSpPr>
          <p:cNvPr id="53" name="P03-modules-body">
            <a:extLst xmlns:a="http://schemas.openxmlformats.org/drawingml/2006/main">
              <a:ext uri="{FF2B5EF4-FFF2-40B4-BE49-F238E27FC236}">
                <a16:creationId xmlns:a16="http://schemas.microsoft.com/office/drawing/2014/main" id="{07A59937-4310-456D-A5E6-9942D1DF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方案设计 预筛 EDC</a:t>
            </a:r>
          </a:p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远程监查 机构总览</a:t>
            </a:r>
          </a:p>
        </p:txBody>
      </p:sp>
      <p:sp>
        <p:nvSpPr>
          <p:cNvPr id="54" name="P03-layer-0">
            <a:extLst xmlns:a="http://schemas.openxmlformats.org/drawingml/2006/main">
              <a:ext uri="{FF2B5EF4-FFF2-40B4-BE49-F238E27FC236}">
                <a16:creationId xmlns:a16="http://schemas.microsoft.com/office/drawing/2014/main" id="{FC6F3D32-57AA-4245-BB14-506A6BA4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733550"/>
            <a:ext cx="6667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55" name="P03-layer-0-label">
            <a:extLst xmlns:a="http://schemas.openxmlformats.org/drawingml/2006/main">
              <a:ext uri="{FF2B5EF4-FFF2-40B4-BE49-F238E27FC236}">
                <a16:creationId xmlns:a16="http://schemas.microsoft.com/office/drawing/2014/main" id="{313E204F-5CBC-438D-93AB-D816C241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95475"/>
            <a:ext cx="2171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用户层</a:t>
            </a:r>
          </a:p>
        </p:txBody>
      </p:sp>
      <p:sp>
        <p:nvSpPr>
          <p:cNvPr id="56" name="P03-layer-0-text">
            <a:extLst xmlns:a="http://schemas.openxmlformats.org/drawingml/2006/main">
              <a:ext uri="{FF2B5EF4-FFF2-40B4-BE49-F238E27FC236}">
                <a16:creationId xmlns:a16="http://schemas.microsoft.com/office/drawing/2014/main" id="{020735E9-7E81-486B-814F-5361E8CB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38325"/>
            <a:ext cx="4086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PI    CRC    CRA    机构办</a:t>
            </a:r>
          </a:p>
        </p:txBody>
      </p:sp>
      <p:sp>
        <p:nvSpPr>
          <p:cNvPr id="57" name="P03-layer-1">
            <a:extLst xmlns:a="http://schemas.openxmlformats.org/drawingml/2006/main">
              <a:ext uri="{FF2B5EF4-FFF2-40B4-BE49-F238E27FC236}">
                <a16:creationId xmlns:a16="http://schemas.microsoft.com/office/drawing/2014/main" id="{2B95E454-249D-401E-9A2B-9ADFD991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14625"/>
            <a:ext cx="6667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347F84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58" name="P03-layer-1-label">
            <a:extLst xmlns:a="http://schemas.openxmlformats.org/drawingml/2006/main">
              <a:ext uri="{FF2B5EF4-FFF2-40B4-BE49-F238E27FC236}">
                <a16:creationId xmlns:a16="http://schemas.microsoft.com/office/drawing/2014/main" id="{4F625623-AFE5-4221-BC53-B0B7D564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76550"/>
            <a:ext cx="2171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平台应用层</a:t>
            </a:r>
          </a:p>
        </p:txBody>
      </p:sp>
      <p:sp>
        <p:nvSpPr>
          <p:cNvPr id="59" name="P03-layer-1-text">
            <a:extLst xmlns:a="http://schemas.openxmlformats.org/drawingml/2006/main">
              <a:ext uri="{FF2B5EF4-FFF2-40B4-BE49-F238E27FC236}">
                <a16:creationId xmlns:a16="http://schemas.microsoft.com/office/drawing/2014/main" id="{E82CF8C5-D495-4F53-A758-1F9CFC83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19400"/>
            <a:ext cx="4086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    预筛    EDC</a:t>
            </a:r>
          </a:p>
          <a:p xmlns:a="http://schemas.openxmlformats.org/drawingml/2006/main">
            <a:pPr algn="ctr">
              <a:def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安全监测    远程监查    机构总览</a:t>
            </a:r>
          </a:p>
        </p:txBody>
      </p:sp>
      <p:cxnSp>
        <p:nvCxnSpPr>
          <p:cNvPr id="101" name="P03-layer-connect-1"/>
          <p:cNvCxnSpPr>
            <a:stCxn xmlns:a="http://schemas.openxmlformats.org/drawingml/2006/main" id="57" idx="0"/>
            <a:endCxn xmlns:a="http://schemas.openxmlformats.org/drawingml/2006/main" id="54" idx="2"/>
          </p:cNvCxnSpPr>
          <p:nvPr/>
        </p:nvCxnSpPr>
        <p:spPr>
          <a:xfrm xmlns:a="http://schemas.openxmlformats.org/drawingml/2006/main" flipV="1">
            <a:off x="7477125" y="2552700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sp>
        <p:nvSpPr>
          <p:cNvPr id="60" name="P03-layer-2">
            <a:extLst xmlns:a="http://schemas.openxmlformats.org/drawingml/2006/main">
              <a:ext uri="{FF2B5EF4-FFF2-40B4-BE49-F238E27FC236}">
                <a16:creationId xmlns:a16="http://schemas.microsoft.com/office/drawing/2014/main" id="{6A2E0DEC-DBA2-4BBA-A46A-A3A3F2C3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95700"/>
            <a:ext cx="6667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61" name="P03-layer-2-label">
            <a:extLst xmlns:a="http://schemas.openxmlformats.org/drawingml/2006/main">
              <a:ext uri="{FF2B5EF4-FFF2-40B4-BE49-F238E27FC236}">
                <a16:creationId xmlns:a16="http://schemas.microsoft.com/office/drawing/2014/main" id="{56D9D41A-DB6A-4DFF-ABB2-AA5BFD29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57625"/>
            <a:ext cx="2171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数据集成与主索引层</a:t>
            </a:r>
          </a:p>
        </p:txBody>
      </p:sp>
      <p:sp>
        <p:nvSpPr>
          <p:cNvPr id="62" name="P03-layer-2-text">
            <a:extLst xmlns:a="http://schemas.openxmlformats.org/drawingml/2006/main">
              <a:ext uri="{FF2B5EF4-FFF2-40B4-BE49-F238E27FC236}">
                <a16:creationId xmlns:a16="http://schemas.microsoft.com/office/drawing/2014/main" id="{3BDA3357-7D90-4879-BC97-530E6A45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00475"/>
            <a:ext cx="4086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数据接入  字段映射  患者唯一标识</a:t>
            </a:r>
          </a:p>
        </p:txBody>
      </p:sp>
      <p:cxnSp>
        <p:nvCxnSpPr>
          <p:cNvPr id="102" name="P03-layer-connect-2"/>
          <p:cNvCxnSpPr>
            <a:stCxn xmlns:a="http://schemas.openxmlformats.org/drawingml/2006/main" id="60" idx="0"/>
            <a:endCxn xmlns:a="http://schemas.openxmlformats.org/drawingml/2006/main" id="57" idx="2"/>
          </p:cNvCxnSpPr>
          <p:nvPr/>
        </p:nvCxnSpPr>
        <p:spPr>
          <a:xfrm xmlns:a="http://schemas.openxmlformats.org/drawingml/2006/main" flipV="1">
            <a:off x="7477125" y="3533775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sp>
        <p:nvSpPr>
          <p:cNvPr id="63" name="P03-layer-3">
            <a:extLst xmlns:a="http://schemas.openxmlformats.org/drawingml/2006/main">
              <a:ext uri="{FF2B5EF4-FFF2-40B4-BE49-F238E27FC236}">
                <a16:creationId xmlns:a16="http://schemas.microsoft.com/office/drawing/2014/main" id="{0BC4BE9C-22DD-45F9-94A3-074B5A6A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76775"/>
            <a:ext cx="6667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64" name="P03-layer-3-label">
            <a:extLst xmlns:a="http://schemas.openxmlformats.org/drawingml/2006/main">
              <a:ext uri="{FF2B5EF4-FFF2-40B4-BE49-F238E27FC236}">
                <a16:creationId xmlns:a16="http://schemas.microsoft.com/office/drawing/2014/main" id="{3859762F-0BA8-4B80-AC92-0FFE330F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38700"/>
            <a:ext cx="2171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院内源系统层</a:t>
            </a:r>
          </a:p>
        </p:txBody>
      </p:sp>
      <p:sp>
        <p:nvSpPr>
          <p:cNvPr id="65" name="P03-layer-3-text">
            <a:extLst xmlns:a="http://schemas.openxmlformats.org/drawingml/2006/main">
              <a:ext uri="{FF2B5EF4-FFF2-40B4-BE49-F238E27FC236}">
                <a16:creationId xmlns:a16="http://schemas.microsoft.com/office/drawing/2014/main" id="{47A68DBB-0B42-4ECB-B18C-475273C3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4086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HIS    LIS    PACS    EMR</a:t>
            </a:r>
          </a:p>
        </p:txBody>
      </p:sp>
      <p:cxnSp>
        <p:nvCxnSpPr>
          <p:cNvPr id="103" name="P03-layer-connect-3"/>
          <p:cNvCxnSpPr>
            <a:stCxn xmlns:a="http://schemas.openxmlformats.org/drawingml/2006/main" id="63" idx="0"/>
            <a:endCxn xmlns:a="http://schemas.openxmlformats.org/drawingml/2006/main" id="60" idx="2"/>
          </p:cNvCxnSpPr>
          <p:nvPr/>
        </p:nvCxnSpPr>
        <p:spPr>
          <a:xfrm xmlns:a="http://schemas.openxmlformats.org/drawingml/2006/main" flipV="1">
            <a:off x="7477125" y="4514850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sp>
        <p:nvSpPr>
          <p:cNvPr id="66" name="P03-device-entry">
            <a:extLst xmlns:a="http://schemas.openxmlformats.org/drawingml/2006/main">
              <a:ext uri="{FF2B5EF4-FFF2-40B4-BE49-F238E27FC236}">
                <a16:creationId xmlns:a16="http://schemas.microsoft.com/office/drawing/2014/main" id="{A6C662EA-C476-44C3-A487-4325EC3C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981325"/>
            <a:ext cx="838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rPr>
              <a:t>课题二</a:t>
            </a:r>
          </a:p>
          <a:p xmlns:a="http://schemas.openxmlformats.org/drawingml/2006/main">
            <a:pPr algn="l">
              <a:defRPr sz="130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rPr>
              <a:t>多模态</a:t>
            </a:r>
          </a:p>
          <a:p xmlns:a="http://schemas.openxmlformats.org/drawingml/2006/main">
            <a:pPr algn="l">
              <a:defRPr sz="130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rPr>
              <a:t>设备接入</a:t>
            </a:r>
          </a:p>
        </p:txBody>
      </p:sp>
      <p:sp>
        <p:nvSpPr>
          <p:cNvPr id="7" name="P03-template-header">
            <a:extLst xmlns:a="http://schemas.openxmlformats.org/drawingml/2006/main">
              <a:ext uri="{FF2B5EF4-FFF2-40B4-BE49-F238E27FC236}">
                <a16:creationId xmlns:a16="http://schemas.microsoft.com/office/drawing/2014/main" id="{EBF38723-F6C4-42BE-8015-40D5A3AB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35" y="-1270"/>
            <a:ext cx="12191365" cy="740410"/>
          </a:xfrm>
          <a:prstGeom xmlns:a="http://schemas.openxmlformats.org/drawingml/2006/main" prst="round1Rect">
            <a:avLst>
              <a:gd name="adj" fmla="val 27506"/>
            </a:avLst>
          </a:prstGeom>
          <a:gradFill xmlns:a="http://schemas.openxmlformats.org/drawingml/2006/main">
            <a:gsLst>
              <a:gs pos="74000">
                <a:srgbClr val="6AAA9A">
                  <a:alpha val="46000"/>
                </a:srgbClr>
              </a:gs>
              <a:gs pos="100000">
                <a:srgbClr val="7AB39B">
                  <a:alpha val="33000"/>
                </a:srgbClr>
              </a:gs>
              <a:gs pos="47000">
                <a:srgbClr val="5AA199">
                  <a:alpha val="75000"/>
                </a:srgbClr>
              </a:gs>
              <a:gs pos="15000">
                <a:srgbClr val="398F96">
                  <a:alpha val="10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03-title">
            <a:extLst xmlns:a="http://schemas.openxmlformats.org/drawingml/2006/main">
              <a:ext uri="{FF2B5EF4-FFF2-40B4-BE49-F238E27FC236}">
                <a16:creationId xmlns:a16="http://schemas.microsoft.com/office/drawing/2014/main" id="{0F61A04C-4A18-4554-8433-48EDBD9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7" y="77438"/>
            <a:ext cx="8877300" cy="583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长庚进展 平台部署与数据对接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2" name="P03-template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7483aa0784f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3390" y="148590"/>
            <a:ext cx="2664460" cy="4578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660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9" name="P04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c8464698743a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0" name="P04-subtitle">
            <a:extLst xmlns:a="http://schemas.openxmlformats.org/drawingml/2006/main">
              <a:ext uri="{FF2B5EF4-FFF2-40B4-BE49-F238E27FC236}">
                <a16:creationId xmlns:a16="http://schemas.microsoft.com/office/drawing/2014/main" id="{27212B85-9DED-419B-9A4A-E8ABF02F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正在遴选真实项目开展应用</a:t>
            </a:r>
          </a:p>
        </p:txBody>
      </p:sp>
      <p:sp>
        <p:nvSpPr>
          <p:cNvPr id="41" name="P04-conclusion-band">
            <a:extLst xmlns:a="http://schemas.openxmlformats.org/drawingml/2006/main">
              <a:ext uri="{FF2B5EF4-FFF2-40B4-BE49-F238E27FC236}">
                <a16:creationId xmlns:a16="http://schemas.microsoft.com/office/drawing/2014/main" id="{581554C7-A92B-4075-B847-0F271B11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91225"/>
            <a:ext cx="112776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0">
            <a:noFill/>
          </a:ln>
        </p:spPr>
      </p:sp>
      <p:sp>
        <p:nvSpPr>
          <p:cNvPr id="42" name="P04-conclusion">
            <a:extLst xmlns:a="http://schemas.openxmlformats.org/drawingml/2006/main">
              <a:ext uri="{FF2B5EF4-FFF2-40B4-BE49-F238E27FC236}">
                <a16:creationId xmlns:a16="http://schemas.microsoft.com/office/drawing/2014/main" id="{664D0301-CF5B-489B-91FB-7B601799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67425"/>
            <a:ext cx="10896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接口规范 主索引方案与点位脚本按可迁移标准整理 支持两院协同建设</a:t>
            </a:r>
          </a:p>
        </p:txBody>
      </p:sp>
      <p:sp>
        <p:nvSpPr>
          <p:cNvPr id="43" name="P04-footer">
            <a:extLst xmlns:a="http://schemas.openxmlformats.org/drawingml/2006/main">
              <a:ext uri="{FF2B5EF4-FFF2-40B4-BE49-F238E27FC236}">
                <a16:creationId xmlns:a16="http://schemas.microsoft.com/office/drawing/2014/main" id="{F84DBFB1-D928-435A-9C02-8F0A56FD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1038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2024YFF1207000  临床研究病房智慧管理平台研发与应用示范</a:t>
            </a:r>
          </a:p>
        </p:txBody>
      </p:sp>
      <p:sp>
        <p:nvSpPr>
          <p:cNvPr id="44" name="P04-page">
            <a:extLst xmlns:a="http://schemas.openxmlformats.org/drawingml/2006/main">
              <a:ext uri="{FF2B5EF4-FFF2-40B4-BE49-F238E27FC236}">
                <a16:creationId xmlns:a16="http://schemas.microsoft.com/office/drawing/2014/main" id="{AFAAE0E7-8768-4C4F-87B5-76453500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5" name="P04-screenshot-0">
            <a:extLst xmlns:a="http://schemas.openxmlformats.org/drawingml/2006/main">
              <a:ext uri="{FF2B5EF4-FFF2-40B4-BE49-F238E27FC236}">
                <a16:creationId xmlns:a16="http://schemas.microsoft.com/office/drawing/2014/main" id="{5D0ECB48-C6B6-4DAE-B53E-8DDB0768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54864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46" name="P04-caption-0">
            <a:extLst xmlns:a="http://schemas.openxmlformats.org/drawingml/2006/main">
              <a:ext uri="{FF2B5EF4-FFF2-40B4-BE49-F238E27FC236}">
                <a16:creationId xmlns:a16="http://schemas.microsoft.com/office/drawing/2014/main" id="{BC3D588C-E78D-4FAD-957B-68397EE6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548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机构总览大屏 实时展示在研项目与入组进度</a:t>
            </a:r>
          </a:p>
        </p:txBody>
      </p:sp>
      <p:sp>
        <p:nvSpPr>
          <p:cNvPr id="47" name="P04-screenshot-1">
            <a:extLst xmlns:a="http://schemas.openxmlformats.org/drawingml/2006/main">
              <a:ext uri="{FF2B5EF4-FFF2-40B4-BE49-F238E27FC236}">
                <a16:creationId xmlns:a16="http://schemas.microsoft.com/office/drawing/2014/main" id="{ACDB6C35-595F-4C18-AE83-626AA934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66875"/>
            <a:ext cx="54864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48" name="P04-caption-1">
            <a:extLst xmlns:a="http://schemas.openxmlformats.org/drawingml/2006/main">
              <a:ext uri="{FF2B5EF4-FFF2-40B4-BE49-F238E27FC236}">
                <a16:creationId xmlns:a16="http://schemas.microsoft.com/office/drawing/2014/main" id="{EF63662D-2A1B-4D7E-8318-E0B32C4A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43350"/>
            <a:ext cx="548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EDC自动回填院内数据 减少人工录入</a:t>
            </a:r>
          </a:p>
        </p:txBody>
      </p:sp>
      <p:sp>
        <p:nvSpPr>
          <p:cNvPr id="49" name="P04-reuse-label">
            <a:extLst xmlns:a="http://schemas.openxmlformats.org/drawingml/2006/main">
              <a:ext uri="{FF2B5EF4-FFF2-40B4-BE49-F238E27FC236}">
                <a16:creationId xmlns:a16="http://schemas.microsoft.com/office/drawing/2014/main" id="{FA8C0EC2-E681-4C2E-AE3C-44C2E8BF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可供友谊医院复用的3项成果</a:t>
            </a:r>
          </a:p>
        </p:txBody>
      </p:sp>
      <p:sp>
        <p:nvSpPr>
          <p:cNvPr id="50" name="P04-reuse-0-h">
            <a:extLst xmlns:a="http://schemas.openxmlformats.org/drawingml/2006/main">
              <a:ext uri="{FF2B5EF4-FFF2-40B4-BE49-F238E27FC236}">
                <a16:creationId xmlns:a16="http://schemas.microsoft.com/office/drawing/2014/main" id="{3D468C1D-6F15-464F-AB38-5AAA0DA9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接口规范与数据字典</a:t>
            </a:r>
          </a:p>
        </p:txBody>
      </p:sp>
      <p:sp>
        <p:nvSpPr>
          <p:cNvPr id="51" name="P04-reuse-0-b">
            <a:extLst xmlns:a="http://schemas.openxmlformats.org/drawingml/2006/main">
              <a:ext uri="{FF2B5EF4-FFF2-40B4-BE49-F238E27FC236}">
                <a16:creationId xmlns:a16="http://schemas.microsoft.com/office/drawing/2014/main" id="{36CE8F18-24FC-40E9-B6D2-A6C39709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482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HIS/LIS/EMR字段映射</a:t>
            </a:r>
          </a:p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减少接口重新梳理</a:t>
            </a:r>
          </a:p>
        </p:txBody>
      </p:sp>
      <p:sp>
        <p:nvSpPr>
          <p:cNvPr id="52" name="P04-reuse-1-h">
            <a:extLst xmlns:a="http://schemas.openxmlformats.org/drawingml/2006/main">
              <a:ext uri="{FF2B5EF4-FFF2-40B4-BE49-F238E27FC236}">
                <a16:creationId xmlns:a16="http://schemas.microsoft.com/office/drawing/2014/main" id="{9A1304C2-0F02-43D9-995E-387E092F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672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主索引建立方案</a:t>
            </a:r>
          </a:p>
        </p:txBody>
      </p:sp>
      <p:sp>
        <p:nvSpPr>
          <p:cNvPr id="53" name="P04-reuse-1-b">
            <a:extLst xmlns:a="http://schemas.openxmlformats.org/drawingml/2006/main">
              <a:ext uri="{FF2B5EF4-FFF2-40B4-BE49-F238E27FC236}">
                <a16:creationId xmlns:a16="http://schemas.microsoft.com/office/drawing/2014/main" id="{D43B82DC-A9F7-4415-B0FE-B542A8E3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482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患者唯一标识与项目关联规则</a:t>
            </a:r>
          </a:p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支撑院内主索引决策</a:t>
            </a:r>
          </a:p>
        </p:txBody>
      </p:sp>
      <p:sp>
        <p:nvSpPr>
          <p:cNvPr id="54" name="P04-reuse-2-h">
            <a:extLst xmlns:a="http://schemas.openxmlformats.org/drawingml/2006/main">
              <a:ext uri="{FF2B5EF4-FFF2-40B4-BE49-F238E27FC236}">
                <a16:creationId xmlns:a16="http://schemas.microsoft.com/office/drawing/2014/main" id="{B21A49E6-9EF1-45E9-9306-9BC4581E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672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点位讲解脚本模板</a:t>
            </a:r>
          </a:p>
        </p:txBody>
      </p:sp>
      <p:sp>
        <p:nvSpPr>
          <p:cNvPr id="55" name="P04-reuse-2-b">
            <a:extLst xmlns:a="http://schemas.openxmlformats.org/drawingml/2006/main">
              <a:ext uri="{FF2B5EF4-FFF2-40B4-BE49-F238E27FC236}">
                <a16:creationId xmlns:a16="http://schemas.microsoft.com/office/drawing/2014/main" id="{21A206FA-4108-41CD-90F0-EF80D070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482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六点位角色讲解框架</a:t>
            </a:r>
          </a:p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可按示范场地调整</a:t>
            </a:r>
          </a:p>
        </p:txBody>
      </p:sp>
      <p:sp>
        <p:nvSpPr>
          <p:cNvPr id="7" name="P04-template-header">
            <a:extLst xmlns:a="http://schemas.openxmlformats.org/drawingml/2006/main">
              <a:ext uri="{FF2B5EF4-FFF2-40B4-BE49-F238E27FC236}">
                <a16:creationId xmlns:a16="http://schemas.microsoft.com/office/drawing/2014/main" id="{EBF38723-F6C4-42BE-8015-40D5A3AB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35" y="-1270"/>
            <a:ext cx="12191365" cy="740410"/>
          </a:xfrm>
          <a:prstGeom xmlns:a="http://schemas.openxmlformats.org/drawingml/2006/main" prst="round1Rect">
            <a:avLst>
              <a:gd name="adj" fmla="val 27506"/>
            </a:avLst>
          </a:prstGeom>
          <a:gradFill xmlns:a="http://schemas.openxmlformats.org/drawingml/2006/main">
            <a:gsLst>
              <a:gs pos="74000">
                <a:srgbClr val="6AAA9A">
                  <a:alpha val="46000"/>
                </a:srgbClr>
              </a:gs>
              <a:gs pos="100000">
                <a:srgbClr val="7AB39B">
                  <a:alpha val="33000"/>
                </a:srgbClr>
              </a:gs>
              <a:gs pos="47000">
                <a:srgbClr val="5AA199">
                  <a:alpha val="75000"/>
                </a:srgbClr>
              </a:gs>
              <a:gs pos="15000">
                <a:srgbClr val="398F96">
                  <a:alpha val="10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04-title">
            <a:extLst xmlns:a="http://schemas.openxmlformats.org/drawingml/2006/main">
              <a:ext uri="{FF2B5EF4-FFF2-40B4-BE49-F238E27FC236}">
                <a16:creationId xmlns:a16="http://schemas.microsoft.com/office/drawing/2014/main" id="{0F61A04C-4A18-4554-8433-48EDBD9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7" y="77438"/>
            <a:ext cx="8877300" cy="583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长庚进展 应用遴选与可复用成果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8" name="P04-template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f7198176648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3390" y="148590"/>
            <a:ext cx="2664460" cy="4578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660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P05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3be36755840c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0" name="P05-subtitle">
            <a:extLst xmlns:a="http://schemas.openxmlformats.org/drawingml/2006/main">
              <a:ext uri="{FF2B5EF4-FFF2-40B4-BE49-F238E27FC236}">
                <a16:creationId xmlns:a16="http://schemas.microsoft.com/office/drawing/2014/main" id="{BA5CB9C3-580F-4A6E-B8BC-D89F477A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已完成院内部署与培训 5项院内协调事项需明确安排</a:t>
            </a:r>
          </a:p>
        </p:txBody>
      </p:sp>
      <p:sp>
        <p:nvSpPr>
          <p:cNvPr id="41" name="P05-conclusion-band">
            <a:extLst xmlns:a="http://schemas.openxmlformats.org/drawingml/2006/main">
              <a:ext uri="{FF2B5EF4-FFF2-40B4-BE49-F238E27FC236}">
                <a16:creationId xmlns:a16="http://schemas.microsoft.com/office/drawing/2014/main" id="{AD1B6D73-F277-4C2B-97C0-553F2837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91225"/>
            <a:ext cx="112776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0">
            <a:noFill/>
          </a:ln>
        </p:spPr>
      </p:sp>
      <p:sp>
        <p:nvSpPr>
          <p:cNvPr id="42" name="P05-conclusion">
            <a:extLst xmlns:a="http://schemas.openxmlformats.org/drawingml/2006/main">
              <a:ext uri="{FF2B5EF4-FFF2-40B4-BE49-F238E27FC236}">
                <a16:creationId xmlns:a16="http://schemas.microsoft.com/office/drawing/2014/main" id="{E341E544-022E-44DC-837E-DA0D6A1B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67425"/>
            <a:ext cx="10896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建议院方明确责任与排期 后续对接工作按双方确认的资源条件推进</a:t>
            </a:r>
          </a:p>
        </p:txBody>
      </p:sp>
      <p:sp>
        <p:nvSpPr>
          <p:cNvPr id="43" name="P05-footer">
            <a:extLst xmlns:a="http://schemas.openxmlformats.org/drawingml/2006/main">
              <a:ext uri="{FF2B5EF4-FFF2-40B4-BE49-F238E27FC236}">
                <a16:creationId xmlns:a16="http://schemas.microsoft.com/office/drawing/2014/main" id="{2FF44FF0-3AB7-4492-80F8-DEA0551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1038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2024YFF1207000  临床研究病房智慧管理平台研发与应用示范</a:t>
            </a:r>
          </a:p>
        </p:txBody>
      </p:sp>
      <p:sp>
        <p:nvSpPr>
          <p:cNvPr id="44" name="P05-page">
            <a:extLst xmlns:a="http://schemas.openxmlformats.org/drawingml/2006/main">
              <a:ext uri="{FF2B5EF4-FFF2-40B4-BE49-F238E27FC236}">
                <a16:creationId xmlns:a16="http://schemas.microsoft.com/office/drawing/2014/main" id="{5E4FFE51-942A-4F37-8ED1-D5BA37EC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5" name="P05-done-0-h">
            <a:extLst xmlns:a="http://schemas.openxmlformats.org/drawingml/2006/main">
              <a:ext uri="{FF2B5EF4-FFF2-40B4-BE49-F238E27FC236}">
                <a16:creationId xmlns:a16="http://schemas.microsoft.com/office/drawing/2014/main" id="{DBAE8F71-618B-43AA-8559-C17556B3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352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部署联通</a:t>
            </a:r>
          </a:p>
        </p:txBody>
      </p:sp>
      <p:sp>
        <p:nvSpPr>
          <p:cNvPr id="46" name="P05-done-0-b">
            <a:extLst xmlns:a="http://schemas.openxmlformats.org/drawingml/2006/main">
              <a:ext uri="{FF2B5EF4-FFF2-40B4-BE49-F238E27FC236}">
                <a16:creationId xmlns:a16="http://schemas.microsoft.com/office/drawing/2014/main" id="{FA1EF326-92AF-412B-8F96-F084435D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系统院内部署已完成</a:t>
            </a:r>
          </a:p>
        </p:txBody>
      </p:sp>
      <p:sp>
        <p:nvSpPr>
          <p:cNvPr id="47" name="P05-done-1-h">
            <a:extLst xmlns:a="http://schemas.openxmlformats.org/drawingml/2006/main">
              <a:ext uri="{FF2B5EF4-FFF2-40B4-BE49-F238E27FC236}">
                <a16:creationId xmlns:a16="http://schemas.microsoft.com/office/drawing/2014/main" id="{28EB07C5-6C6E-4CCD-B75F-C34A4ACF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00200"/>
            <a:ext cx="352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操作培训</a:t>
            </a:r>
          </a:p>
        </p:txBody>
      </p:sp>
      <p:sp>
        <p:nvSpPr>
          <p:cNvPr id="48" name="P05-done-1-b">
            <a:extLst xmlns:a="http://schemas.openxmlformats.org/drawingml/2006/main">
              <a:ext uri="{FF2B5EF4-FFF2-40B4-BE49-F238E27FC236}">
                <a16:creationId xmlns:a16="http://schemas.microsoft.com/office/drawing/2014/main" id="{693A3C4C-F700-4DBF-9CA2-5F14A868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716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9月7日完成全平台培训</a:t>
            </a:r>
          </a:p>
        </p:txBody>
      </p:sp>
      <p:sp>
        <p:nvSpPr>
          <p:cNvPr id="49" name="P05-done-2-h">
            <a:extLst xmlns:a="http://schemas.openxmlformats.org/drawingml/2006/main">
              <a:ext uri="{FF2B5EF4-FFF2-40B4-BE49-F238E27FC236}">
                <a16:creationId xmlns:a16="http://schemas.microsoft.com/office/drawing/2014/main" id="{05C13609-9C88-429B-AF9F-E04119E4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00200"/>
            <a:ext cx="352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数据接入</a:t>
            </a:r>
          </a:p>
        </p:txBody>
      </p:sp>
      <p:sp>
        <p:nvSpPr>
          <p:cNvPr id="50" name="P05-done-2-b">
            <a:extLst xmlns:a="http://schemas.openxmlformats.org/drawingml/2006/main">
              <a:ext uri="{FF2B5EF4-FFF2-40B4-BE49-F238E27FC236}">
                <a16:creationId xmlns:a16="http://schemas.microsoft.com/office/drawing/2014/main" id="{88FE6AE6-5B83-4218-B3BB-4E4832B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716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心率 呼吸 血氧3项文本数据</a:t>
            </a:r>
          </a:p>
        </p:txBody>
      </p:sp>
      <p:graphicFrame>
        <p:nvGraphicFramePr>
          <p:cNvPr id="67" name="P05-decisions"/>
          <p:cNvGraphicFramePr/>
          <p:nvPr/>
        </p:nvGraphicFramePr>
        <p:xfrm>
          <a:off xmlns:a="http://schemas.openxmlformats.org/drawingml/2006/main" x="457200" y="2476500"/>
          <a:ext xmlns:a="http://schemas.openxmlformats.org/drawingml/2006/main" cx="11277600" cy="32766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619125"/>
                <a:gridCol w="2190750"/>
                <a:gridCol w="4191000"/>
                <a:gridCol w="2238375"/>
                <a:gridCol w="2038350"/>
              </a:tblGrid>
              <a:tr h="419100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序号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2C7175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待决策事项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2C7175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需院方决定的内容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2C7175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建议责任方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2C7175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建议时限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2C7175"/>
                    </a:solidFill>
                  </a:tcPr>
                </a:tc>
              </a:tr>
              <a:tr h="571500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主索引与唯一标识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研究项目与多模态数据</a:t>
                      </a:r>
                    </a:p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采用院内主索引关联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机构办 信息科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550" b="1">
                          <a:solidFill>
                            <a:srgbClr val="AA550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9月30日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院内算力资源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调配与模型推理匹配的算力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信息科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550" b="1">
                          <a:solidFill>
                            <a:srgbClr val="AA550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10月10日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</a:tr>
              <a:tr h="571500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多模态延伸对接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院内数据与其他模态接入范围</a:t>
                      </a:r>
                    </a:p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协调万木千帆厂商排期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机构办 厂商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550" b="1">
                          <a:solidFill>
                            <a:srgbClr val="AA550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10月15日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历史项目模型验证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确定已结束项目</a:t>
                      </a:r>
                    </a:p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提供方案 CRF与历史数据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机构办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550" b="1">
                          <a:solidFill>
                            <a:srgbClr val="AA550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10月10日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</a:tr>
              <a:tr h="571500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示范场地与人员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确定场地 设备 示范科室</a:t>
                      </a:r>
                    </a:p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以及参与角色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医务处 机构办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550" b="1">
                          <a:solidFill>
                            <a:srgbClr val="AA550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10月15日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05-template-header">
            <a:extLst xmlns:a="http://schemas.openxmlformats.org/drawingml/2006/main">
              <a:ext uri="{FF2B5EF4-FFF2-40B4-BE49-F238E27FC236}">
                <a16:creationId xmlns:a16="http://schemas.microsoft.com/office/drawing/2014/main" id="{EBF38723-F6C4-42BE-8015-40D5A3AB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35" y="-1270"/>
            <a:ext cx="12191365" cy="740410"/>
          </a:xfrm>
          <a:prstGeom xmlns:a="http://schemas.openxmlformats.org/drawingml/2006/main" prst="round1Rect">
            <a:avLst>
              <a:gd name="adj" fmla="val 27506"/>
            </a:avLst>
          </a:prstGeom>
          <a:gradFill xmlns:a="http://schemas.openxmlformats.org/drawingml/2006/main">
            <a:gsLst>
              <a:gs pos="74000">
                <a:srgbClr val="6AAA9A">
                  <a:alpha val="46000"/>
                </a:srgbClr>
              </a:gs>
              <a:gs pos="100000">
                <a:srgbClr val="7AB39B">
                  <a:alpha val="33000"/>
                </a:srgbClr>
              </a:gs>
              <a:gs pos="47000">
                <a:srgbClr val="5AA199">
                  <a:alpha val="75000"/>
                </a:srgbClr>
              </a:gs>
              <a:gs pos="15000">
                <a:srgbClr val="398F96">
                  <a:alpha val="10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05-title">
            <a:extLst xmlns:a="http://schemas.openxmlformats.org/drawingml/2006/main">
              <a:ext uri="{FF2B5EF4-FFF2-40B4-BE49-F238E27FC236}">
                <a16:creationId xmlns:a16="http://schemas.microsoft.com/office/drawing/2014/main" id="{0F61A04C-4A18-4554-8433-48EDBD9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7" y="77438"/>
            <a:ext cx="8877300" cy="583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友谊进展 待院方决策事项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4" name="P05-template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48fd1bead41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3390" y="148590"/>
            <a:ext cx="2664460" cy="4578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660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8" name="P06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d0acef49d47e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0" name="P06-subtitle">
            <a:extLst xmlns:a="http://schemas.openxmlformats.org/drawingml/2006/main">
              <a:ext uri="{FF2B5EF4-FFF2-40B4-BE49-F238E27FC236}">
                <a16:creationId xmlns:a16="http://schemas.microsoft.com/office/drawing/2014/main" id="{488F6BD0-DEA7-4F5F-910D-D5C5A2DB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围绕院内数据对接与部署条件开展前期准备</a:t>
            </a:r>
          </a:p>
        </p:txBody>
      </p:sp>
      <p:sp>
        <p:nvSpPr>
          <p:cNvPr id="41" name="P06-conclusion-band">
            <a:extLst xmlns:a="http://schemas.openxmlformats.org/drawingml/2006/main">
              <a:ext uri="{FF2B5EF4-FFF2-40B4-BE49-F238E27FC236}">
                <a16:creationId xmlns:a16="http://schemas.microsoft.com/office/drawing/2014/main" id="{D5971E56-A609-4403-90B2-AADEFBF7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91225"/>
            <a:ext cx="112776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0">
            <a:noFill/>
          </a:ln>
        </p:spPr>
      </p:sp>
      <p:sp>
        <p:nvSpPr>
          <p:cNvPr id="42" name="P06-conclusion">
            <a:extLst xmlns:a="http://schemas.openxmlformats.org/drawingml/2006/main">
              <a:ext uri="{FF2B5EF4-FFF2-40B4-BE49-F238E27FC236}">
                <a16:creationId xmlns:a16="http://schemas.microsoft.com/office/drawing/2014/main" id="{6624288B-DF01-4390-94C2-3219B380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67425"/>
            <a:ext cx="10896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按启动会安排落实院级协调 形成部署准备与需求调研清单</a:t>
            </a:r>
          </a:p>
        </p:txBody>
      </p:sp>
      <p:sp>
        <p:nvSpPr>
          <p:cNvPr id="43" name="P06-footer">
            <a:extLst xmlns:a="http://schemas.openxmlformats.org/drawingml/2006/main">
              <a:ext uri="{FF2B5EF4-FFF2-40B4-BE49-F238E27FC236}">
                <a16:creationId xmlns:a16="http://schemas.microsoft.com/office/drawing/2014/main" id="{A8395F21-6B7A-4075-8DC6-1C24F44C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1038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2024YFF1207000  临床研究病房智慧管理平台研发与应用示范</a:t>
            </a:r>
          </a:p>
        </p:txBody>
      </p:sp>
      <p:sp>
        <p:nvSpPr>
          <p:cNvPr id="44" name="P06-page">
            <a:extLst xmlns:a="http://schemas.openxmlformats.org/drawingml/2006/main">
              <a:ext uri="{FF2B5EF4-FFF2-40B4-BE49-F238E27FC236}">
                <a16:creationId xmlns:a16="http://schemas.microsoft.com/office/drawing/2014/main" id="{179AD4DB-EF88-4A4D-98F9-0B724841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64" name="P06-research-war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05c675e034cea"/>
          <a:srcRect xmlns:a="http://schemas.openxmlformats.org/drawingml/2006/main" l="0" t="3810" r="0" b="38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90700"/>
            <a:ext cx="6000750" cy="3695700"/>
          </a:xfrm>
          <a:prstGeom xmlns:a="http://schemas.openxmlformats.org/drawingml/2006/main" prst="rect">
            <a:avLst/>
          </a:prstGeom>
        </p:spPr>
      </p:pic>
      <p:sp>
        <p:nvSpPr>
          <p:cNvPr id="46" name="P06-launch-number">
            <a:extLst xmlns:a="http://schemas.openxmlformats.org/drawingml/2006/main">
              <a:ext uri="{FF2B5EF4-FFF2-40B4-BE49-F238E27FC236}">
                <a16:creationId xmlns:a16="http://schemas.microsoft.com/office/drawing/2014/main" id="{E5423BAB-3DAA-47DC-B039-17A2AD88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8573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7" name="P06-launch-heading">
            <a:extLst xmlns:a="http://schemas.openxmlformats.org/drawingml/2006/main">
              <a:ext uri="{FF2B5EF4-FFF2-40B4-BE49-F238E27FC236}">
                <a16:creationId xmlns:a16="http://schemas.microsoft.com/office/drawing/2014/main" id="{A24D5317-DBAE-4A89-BE22-03E7641C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857375"/>
            <a:ext cx="403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启动会已召开</a:t>
            </a:r>
          </a:p>
        </p:txBody>
      </p:sp>
      <p:sp>
        <p:nvSpPr>
          <p:cNvPr id="48" name="P06-launch-body">
            <a:extLst xmlns:a="http://schemas.openxmlformats.org/drawingml/2006/main">
              <a:ext uri="{FF2B5EF4-FFF2-40B4-BE49-F238E27FC236}">
                <a16:creationId xmlns:a16="http://schemas.microsoft.com/office/drawing/2014/main" id="{FB787C39-7431-4806-938C-A63A8180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57425"/>
            <a:ext cx="4038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启动示范建设相关沟通</a:t>
            </a:r>
          </a:p>
        </p:txBody>
      </p:sp>
      <p:sp>
        <p:nvSpPr>
          <p:cNvPr id="49" name="P06-survey-number">
            <a:extLst xmlns:a="http://schemas.openxmlformats.org/drawingml/2006/main">
              <a:ext uri="{FF2B5EF4-FFF2-40B4-BE49-F238E27FC236}">
                <a16:creationId xmlns:a16="http://schemas.microsoft.com/office/drawing/2014/main" id="{A4D5C340-7930-4B02-BEBD-F9BCEAD3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1908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0" name="P06-survey-heading">
            <a:extLst xmlns:a="http://schemas.openxmlformats.org/drawingml/2006/main">
              <a:ext uri="{FF2B5EF4-FFF2-40B4-BE49-F238E27FC236}">
                <a16:creationId xmlns:a16="http://schemas.microsoft.com/office/drawing/2014/main" id="{3071AA0B-0F74-4FE1-9656-EC944655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90875"/>
            <a:ext cx="403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数据对接需求调研</a:t>
            </a:r>
          </a:p>
        </p:txBody>
      </p:sp>
      <p:sp>
        <p:nvSpPr>
          <p:cNvPr id="51" name="P06-survey-body">
            <a:extLst xmlns:a="http://schemas.openxmlformats.org/drawingml/2006/main">
              <a:ext uri="{FF2B5EF4-FFF2-40B4-BE49-F238E27FC236}">
                <a16:creationId xmlns:a16="http://schemas.microsoft.com/office/drawing/2014/main" id="{A71488A6-CF43-408C-9D58-76D060A3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90925"/>
            <a:ext cx="4038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梳理院内系统与接入需求</a:t>
            </a:r>
          </a:p>
        </p:txBody>
      </p:sp>
      <p:sp>
        <p:nvSpPr>
          <p:cNvPr id="52" name="P06-next-number">
            <a:extLst xmlns:a="http://schemas.openxmlformats.org/drawingml/2006/main">
              <a:ext uri="{FF2B5EF4-FFF2-40B4-BE49-F238E27FC236}">
                <a16:creationId xmlns:a16="http://schemas.microsoft.com/office/drawing/2014/main" id="{F335F51D-5DF8-4C15-8689-61937AB6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5243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3" name="P06-next-heading">
            <a:extLst xmlns:a="http://schemas.openxmlformats.org/drawingml/2006/main">
              <a:ext uri="{FF2B5EF4-FFF2-40B4-BE49-F238E27FC236}">
                <a16:creationId xmlns:a16="http://schemas.microsoft.com/office/drawing/2014/main" id="{5FFFAA46-2D54-4A38-B61F-1EED0BE8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524375"/>
            <a:ext cx="403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下一步部署准备</a:t>
            </a:r>
          </a:p>
        </p:txBody>
      </p:sp>
      <p:sp>
        <p:nvSpPr>
          <p:cNvPr id="54" name="P06-next-body">
            <a:extLst xmlns:a="http://schemas.openxmlformats.org/drawingml/2006/main">
              <a:ext uri="{FF2B5EF4-FFF2-40B4-BE49-F238E27FC236}">
                <a16:creationId xmlns:a16="http://schemas.microsoft.com/office/drawing/2014/main" id="{CD9196A7-A938-4792-A262-D1ABFF14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924425"/>
            <a:ext cx="4038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落实环境条件 示范科室与联络安排</a:t>
            </a:r>
          </a:p>
        </p:txBody>
      </p:sp>
      <p:sp>
        <p:nvSpPr>
          <p:cNvPr id="7" name="P06-template-header">
            <a:extLst xmlns:a="http://schemas.openxmlformats.org/drawingml/2006/main">
              <a:ext uri="{FF2B5EF4-FFF2-40B4-BE49-F238E27FC236}">
                <a16:creationId xmlns:a16="http://schemas.microsoft.com/office/drawing/2014/main" id="{EBF38723-F6C4-42BE-8015-40D5A3AB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35" y="-1270"/>
            <a:ext cx="12191365" cy="740410"/>
          </a:xfrm>
          <a:prstGeom xmlns:a="http://schemas.openxmlformats.org/drawingml/2006/main" prst="round1Rect">
            <a:avLst>
              <a:gd name="adj" fmla="val 27506"/>
            </a:avLst>
          </a:prstGeom>
          <a:gradFill xmlns:a="http://schemas.openxmlformats.org/drawingml/2006/main">
            <a:gsLst>
              <a:gs pos="74000">
                <a:srgbClr val="6AAA9A">
                  <a:alpha val="46000"/>
                </a:srgbClr>
              </a:gs>
              <a:gs pos="100000">
                <a:srgbClr val="7AB39B">
                  <a:alpha val="33000"/>
                </a:srgbClr>
              </a:gs>
              <a:gs pos="47000">
                <a:srgbClr val="5AA199">
                  <a:alpha val="75000"/>
                </a:srgbClr>
              </a:gs>
              <a:gs pos="15000">
                <a:srgbClr val="398F96">
                  <a:alpha val="10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06-title">
            <a:extLst xmlns:a="http://schemas.openxmlformats.org/drawingml/2006/main">
              <a:ext uri="{FF2B5EF4-FFF2-40B4-BE49-F238E27FC236}">
                <a16:creationId xmlns:a16="http://schemas.microsoft.com/office/drawing/2014/main" id="{0F61A04C-4A18-4554-8433-48EDBD9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7" y="77438"/>
            <a:ext cx="8877300" cy="583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哈医大一附院启动情况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7" name="P06-template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c5ada112249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3390" y="148590"/>
            <a:ext cx="2664460" cy="4578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660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5" name="P07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d11ea5c974b5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0" name="P07-subtitle">
            <a:extLst xmlns:a="http://schemas.openxmlformats.org/drawingml/2006/main">
              <a:ext uri="{FF2B5EF4-FFF2-40B4-BE49-F238E27FC236}">
                <a16:creationId xmlns:a16="http://schemas.microsoft.com/office/drawing/2014/main" id="{1EE4E70E-71C9-4401-8A96-7E114F64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建议时间窗 具体示范与验收安排以项目组确认为准</a:t>
            </a:r>
          </a:p>
        </p:txBody>
      </p:sp>
      <p:sp>
        <p:nvSpPr>
          <p:cNvPr id="41" name="P07-conclusion-band">
            <a:extLst xmlns:a="http://schemas.openxmlformats.org/drawingml/2006/main">
              <a:ext uri="{FF2B5EF4-FFF2-40B4-BE49-F238E27FC236}">
                <a16:creationId xmlns:a16="http://schemas.microsoft.com/office/drawing/2014/main" id="{1C35956F-E1A9-4536-902C-1CFFCFD7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91225"/>
            <a:ext cx="112776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0">
            <a:noFill/>
          </a:ln>
        </p:spPr>
      </p:sp>
      <p:sp>
        <p:nvSpPr>
          <p:cNvPr id="42" name="P07-conclusion">
            <a:extLst xmlns:a="http://schemas.openxmlformats.org/drawingml/2006/main">
              <a:ext uri="{FF2B5EF4-FFF2-40B4-BE49-F238E27FC236}">
                <a16:creationId xmlns:a16="http://schemas.microsoft.com/office/drawing/2014/main" id="{E24E5DCB-82EE-4932-9768-6B3BBA00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67425"/>
            <a:ext cx="10896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优先落实友谊现场示范节点 为应用示范报告与项目整体验收预留时间</a:t>
            </a:r>
          </a:p>
        </p:txBody>
      </p:sp>
      <p:sp>
        <p:nvSpPr>
          <p:cNvPr id="43" name="P07-footer">
            <a:extLst xmlns:a="http://schemas.openxmlformats.org/drawingml/2006/main">
              <a:ext uri="{FF2B5EF4-FFF2-40B4-BE49-F238E27FC236}">
                <a16:creationId xmlns:a16="http://schemas.microsoft.com/office/drawing/2014/main" id="{9328445E-EF7C-45B6-AD2C-29EA8A3E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1038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2024YFF1207000  临床研究病房智慧管理平台研发与应用示范</a:t>
            </a:r>
          </a:p>
        </p:txBody>
      </p:sp>
      <p:sp>
        <p:nvSpPr>
          <p:cNvPr id="44" name="P07-page">
            <a:extLst xmlns:a="http://schemas.openxmlformats.org/drawingml/2006/main">
              <a:ext uri="{FF2B5EF4-FFF2-40B4-BE49-F238E27FC236}">
                <a16:creationId xmlns:a16="http://schemas.microsoft.com/office/drawing/2014/main" id="{258903AE-C0F4-4E4A-8D1F-F6B5F657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71" name="P07-progress"/>
          <p:cNvGraphicFramePr/>
          <p:nvPr/>
        </p:nvGraphicFramePr>
        <p:xfrm>
          <a:off xmlns:a="http://schemas.openxmlformats.org/drawingml/2006/main" x="457200" y="1647825"/>
          <a:ext xmlns:a="http://schemas.openxmlformats.org/drawingml/2006/main" cx="11277600" cy="30861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76550"/>
                <a:gridCol w="2571750"/>
                <a:gridCol w="3257550"/>
                <a:gridCol w="2571750"/>
              </a:tblGrid>
              <a:tr h="419100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2C7175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长庚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2C7175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友谊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2C7175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哈医大一附院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2C7175"/>
                    </a:solidFill>
                  </a:tcPr>
                </a:tc>
              </a:tr>
              <a:tr h="381000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平台部署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院内数据对接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全量完成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3项生理数据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</a:tr>
              <a:tr h="381000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主索引与唯一标识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AA550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待院方决策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算力配置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AA550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需调整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</a:tr>
              <a:tr h="381000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真实项目上线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遴选中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首批已选定 尚未启用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示范场地与角色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AA550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待院方明确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</a:tr>
              <a:tr h="381000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现场示范验收时间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550" b="0">
                          <a:solidFill>
                            <a:srgbClr val="AA550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建议11月中旬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5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" name="P07-timeline">
            <a:extLst xmlns:a="http://schemas.openxmlformats.org/drawingml/2006/main">
              <a:ext uri="{FF2B5EF4-FFF2-40B4-BE49-F238E27FC236}">
                <a16:creationId xmlns:a16="http://schemas.microsoft.com/office/drawing/2014/main" id="{21468C73-5A9B-462E-A1BB-00311307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F84"/>
          </a:solidFill>
          <a:ln xmlns:a="http://schemas.openxmlformats.org/drawingml/2006/main" w="0">
            <a:noFill/>
          </a:ln>
        </p:spPr>
      </p:sp>
      <p:sp>
        <p:nvSpPr>
          <p:cNvPr id="47" name="P07-milestone-0">
            <a:extLst xmlns:a="http://schemas.openxmlformats.org/drawingml/2006/main">
              <a:ext uri="{FF2B5EF4-FFF2-40B4-BE49-F238E27FC236}">
                <a16:creationId xmlns:a16="http://schemas.microsoft.com/office/drawing/2014/main" id="{56154961-D2A4-4382-8BD5-4BA84903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105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D9C"/>
          </a:solidFill>
          <a:ln xmlns:a="http://schemas.openxmlformats.org/drawingml/2006/main" w="0">
            <a:noFill/>
          </a:ln>
        </p:spPr>
      </p:sp>
      <p:sp>
        <p:nvSpPr>
          <p:cNvPr id="48" name="P07-milestone-0-d">
            <a:extLst xmlns:a="http://schemas.openxmlformats.org/drawingml/2006/main">
              <a:ext uri="{FF2B5EF4-FFF2-40B4-BE49-F238E27FC236}">
                <a16:creationId xmlns:a16="http://schemas.microsoft.com/office/drawing/2014/main" id="{D0D4CBBE-A006-456C-875A-A0692EDE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37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rPr>
              <a:t>9月22日</a:t>
            </a:r>
          </a:p>
        </p:txBody>
      </p:sp>
      <p:sp>
        <p:nvSpPr>
          <p:cNvPr id="49" name="P07-milestone-0-t">
            <a:extLst xmlns:a="http://schemas.openxmlformats.org/drawingml/2006/main">
              <a:ext uri="{FF2B5EF4-FFF2-40B4-BE49-F238E27FC236}">
                <a16:creationId xmlns:a16="http://schemas.microsoft.com/office/drawing/2014/main" id="{D54D956E-3BA9-4B82-8667-70F71C14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6769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本次会议</a:t>
            </a:r>
          </a:p>
        </p:txBody>
      </p:sp>
      <p:sp>
        <p:nvSpPr>
          <p:cNvPr id="50" name="P07-milestone-1">
            <a:extLst xmlns:a="http://schemas.openxmlformats.org/drawingml/2006/main">
              <a:ext uri="{FF2B5EF4-FFF2-40B4-BE49-F238E27FC236}">
                <a16:creationId xmlns:a16="http://schemas.microsoft.com/office/drawing/2014/main" id="{DE90660F-AC63-4798-902B-FC157400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05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D9C"/>
          </a:solidFill>
          <a:ln xmlns:a="http://schemas.openxmlformats.org/drawingml/2006/main" w="0">
            <a:noFill/>
          </a:ln>
        </p:spPr>
      </p:sp>
      <p:sp>
        <p:nvSpPr>
          <p:cNvPr id="51" name="P07-milestone-1-d">
            <a:extLst xmlns:a="http://schemas.openxmlformats.org/drawingml/2006/main">
              <a:ext uri="{FF2B5EF4-FFF2-40B4-BE49-F238E27FC236}">
                <a16:creationId xmlns:a16="http://schemas.microsoft.com/office/drawing/2014/main" id="{68CABBA5-3379-4654-B45B-F4BCE689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37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rPr>
              <a:t>10月15日</a:t>
            </a:r>
          </a:p>
        </p:txBody>
      </p:sp>
      <p:sp>
        <p:nvSpPr>
          <p:cNvPr id="52" name="P07-milestone-1-t">
            <a:extLst xmlns:a="http://schemas.openxmlformats.org/drawingml/2006/main">
              <a:ext uri="{FF2B5EF4-FFF2-40B4-BE49-F238E27FC236}">
                <a16:creationId xmlns:a16="http://schemas.microsoft.com/office/drawing/2014/main" id="{8FF0F729-5CA1-4313-B4B1-9D062726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6769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院内决策</a:t>
            </a:r>
          </a:p>
        </p:txBody>
      </p:sp>
      <p:sp>
        <p:nvSpPr>
          <p:cNvPr id="53" name="P07-milestone-2">
            <a:extLst xmlns:a="http://schemas.openxmlformats.org/drawingml/2006/main">
              <a:ext uri="{FF2B5EF4-FFF2-40B4-BE49-F238E27FC236}">
                <a16:creationId xmlns:a16="http://schemas.microsoft.com/office/drawing/2014/main" id="{9810E807-5B75-4E1C-A457-1EAADDF2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105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D9C"/>
          </a:solidFill>
          <a:ln xmlns:a="http://schemas.openxmlformats.org/drawingml/2006/main" w="0">
            <a:noFill/>
          </a:ln>
        </p:spPr>
      </p:sp>
      <p:sp>
        <p:nvSpPr>
          <p:cNvPr id="54" name="P07-milestone-2-d">
            <a:extLst xmlns:a="http://schemas.openxmlformats.org/drawingml/2006/main">
              <a:ext uri="{FF2B5EF4-FFF2-40B4-BE49-F238E27FC236}">
                <a16:creationId xmlns:a16="http://schemas.microsoft.com/office/drawing/2014/main" id="{4697C2C0-9439-49AD-A753-289C8A3E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37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rPr>
              <a:t>11月中旬</a:t>
            </a:r>
          </a:p>
        </p:txBody>
      </p:sp>
      <p:sp>
        <p:nvSpPr>
          <p:cNvPr id="55" name="P07-milestone-2-t">
            <a:extLst xmlns:a="http://schemas.openxmlformats.org/drawingml/2006/main">
              <a:ext uri="{FF2B5EF4-FFF2-40B4-BE49-F238E27FC236}">
                <a16:creationId xmlns:a16="http://schemas.microsoft.com/office/drawing/2014/main" id="{BA660ED4-E6D2-4DC8-915D-5DBCFEC2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6769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友谊现场示范</a:t>
            </a:r>
          </a:p>
        </p:txBody>
      </p:sp>
      <p:sp>
        <p:nvSpPr>
          <p:cNvPr id="56" name="P07-milestone-3">
            <a:extLst xmlns:a="http://schemas.openxmlformats.org/drawingml/2006/main">
              <a:ext uri="{FF2B5EF4-FFF2-40B4-BE49-F238E27FC236}">
                <a16:creationId xmlns:a16="http://schemas.microsoft.com/office/drawing/2014/main" id="{6F7FC92E-FDA0-4C8C-B459-F190581A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05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D9C"/>
          </a:solidFill>
          <a:ln xmlns:a="http://schemas.openxmlformats.org/drawingml/2006/main" w="0">
            <a:noFill/>
          </a:ln>
        </p:spPr>
      </p:sp>
      <p:sp>
        <p:nvSpPr>
          <p:cNvPr id="57" name="P07-milestone-3-d">
            <a:extLst xmlns:a="http://schemas.openxmlformats.org/drawingml/2006/main">
              <a:ext uri="{FF2B5EF4-FFF2-40B4-BE49-F238E27FC236}">
                <a16:creationId xmlns:a16="http://schemas.microsoft.com/office/drawing/2014/main" id="{F679EB65-8236-4363-BF53-BD2BAB35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37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rPr>
              <a:t>12月</a:t>
            </a:r>
          </a:p>
        </p:txBody>
      </p:sp>
      <p:sp>
        <p:nvSpPr>
          <p:cNvPr id="58" name="P07-milestone-3-t">
            <a:extLst xmlns:a="http://schemas.openxmlformats.org/drawingml/2006/main">
              <a:ext uri="{FF2B5EF4-FFF2-40B4-BE49-F238E27FC236}">
                <a16:creationId xmlns:a16="http://schemas.microsoft.com/office/drawing/2014/main" id="{FFE0C631-6250-4218-BF5F-B1DF9C31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6769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应用示范报告</a:t>
            </a:r>
          </a:p>
        </p:txBody>
      </p:sp>
      <p:sp>
        <p:nvSpPr>
          <p:cNvPr id="59" name="P07-milestone-4">
            <a:extLst xmlns:a="http://schemas.openxmlformats.org/drawingml/2006/main">
              <a:ext uri="{FF2B5EF4-FFF2-40B4-BE49-F238E27FC236}">
                <a16:creationId xmlns:a16="http://schemas.microsoft.com/office/drawing/2014/main" id="{0DB21FEF-1681-4E74-946E-2B66C396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105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D9C"/>
          </a:solidFill>
          <a:ln xmlns:a="http://schemas.openxmlformats.org/drawingml/2006/main" w="0">
            <a:noFill/>
          </a:ln>
        </p:spPr>
      </p:sp>
      <p:sp>
        <p:nvSpPr>
          <p:cNvPr id="60" name="P07-milestone-4-d">
            <a:extLst xmlns:a="http://schemas.openxmlformats.org/drawingml/2006/main">
              <a:ext uri="{FF2B5EF4-FFF2-40B4-BE49-F238E27FC236}">
                <a16:creationId xmlns:a16="http://schemas.microsoft.com/office/drawing/2014/main" id="{EFF2C11D-E801-48ED-BD95-2649F993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537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rPr>
              <a:t>2027年2月</a:t>
            </a:r>
          </a:p>
        </p:txBody>
      </p:sp>
      <p:sp>
        <p:nvSpPr>
          <p:cNvPr id="61" name="P07-milestone-4-t">
            <a:extLst xmlns:a="http://schemas.openxmlformats.org/drawingml/2006/main">
              <a:ext uri="{FF2B5EF4-FFF2-40B4-BE49-F238E27FC236}">
                <a16:creationId xmlns:a16="http://schemas.microsoft.com/office/drawing/2014/main" id="{2CFD07DC-518B-4580-8832-4C9CBCBC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56769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项目整体验收</a:t>
            </a:r>
          </a:p>
        </p:txBody>
      </p:sp>
      <p:sp>
        <p:nvSpPr>
          <p:cNvPr id="7" name="P07-template-header">
            <a:extLst xmlns:a="http://schemas.openxmlformats.org/drawingml/2006/main">
              <a:ext uri="{FF2B5EF4-FFF2-40B4-BE49-F238E27FC236}">
                <a16:creationId xmlns:a16="http://schemas.microsoft.com/office/drawing/2014/main" id="{EBF38723-F6C4-42BE-8015-40D5A3AB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35" y="-1270"/>
            <a:ext cx="12191365" cy="740410"/>
          </a:xfrm>
          <a:prstGeom xmlns:a="http://schemas.openxmlformats.org/drawingml/2006/main" prst="round1Rect">
            <a:avLst>
              <a:gd name="adj" fmla="val 27506"/>
            </a:avLst>
          </a:prstGeom>
          <a:gradFill xmlns:a="http://schemas.openxmlformats.org/drawingml/2006/main">
            <a:gsLst>
              <a:gs pos="74000">
                <a:srgbClr val="6AAA9A">
                  <a:alpha val="46000"/>
                </a:srgbClr>
              </a:gs>
              <a:gs pos="100000">
                <a:srgbClr val="7AB39B">
                  <a:alpha val="33000"/>
                </a:srgbClr>
              </a:gs>
              <a:gs pos="47000">
                <a:srgbClr val="5AA199">
                  <a:alpha val="75000"/>
                </a:srgbClr>
              </a:gs>
              <a:gs pos="15000">
                <a:srgbClr val="398F96">
                  <a:alpha val="10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07-title">
            <a:extLst xmlns:a="http://schemas.openxmlformats.org/drawingml/2006/main">
              <a:ext uri="{FF2B5EF4-FFF2-40B4-BE49-F238E27FC236}">
                <a16:creationId xmlns:a16="http://schemas.microsoft.com/office/drawing/2014/main" id="{0F61A04C-4A18-4554-8433-48EDBD9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7" y="77438"/>
            <a:ext cx="8877300" cy="583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三院进度对照与时间窗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4" name="P07-template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54726fff049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3390" y="148590"/>
            <a:ext cx="2664460" cy="4578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660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5" name="P08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048f583aa498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0" name="P08-subtitle">
            <a:extLst xmlns:a="http://schemas.openxmlformats.org/drawingml/2006/main">
              <a:ext uri="{FF2B5EF4-FFF2-40B4-BE49-F238E27FC236}">
                <a16:creationId xmlns:a16="http://schemas.microsoft.com/office/drawing/2014/main" id="{293893EC-F8E5-4F71-939C-D1F3BB3E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围绕任务书指标 统一流程 脚本与证据采集要求</a:t>
            </a:r>
          </a:p>
        </p:txBody>
      </p:sp>
      <p:sp>
        <p:nvSpPr>
          <p:cNvPr id="41" name="P08-conclusion-band">
            <a:extLst xmlns:a="http://schemas.openxmlformats.org/drawingml/2006/main">
              <a:ext uri="{FF2B5EF4-FFF2-40B4-BE49-F238E27FC236}">
                <a16:creationId xmlns:a16="http://schemas.microsoft.com/office/drawing/2014/main" id="{EBB50C0F-4F83-4083-9AB3-82836FB7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91225"/>
            <a:ext cx="112776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0">
            <a:noFill/>
          </a:ln>
        </p:spPr>
      </p:sp>
      <p:sp>
        <p:nvSpPr>
          <p:cNvPr id="42" name="P08-conclusion">
            <a:extLst xmlns:a="http://schemas.openxmlformats.org/drawingml/2006/main">
              <a:ext uri="{FF2B5EF4-FFF2-40B4-BE49-F238E27FC236}">
                <a16:creationId xmlns:a16="http://schemas.microsoft.com/office/drawing/2014/main" id="{ABB62AA4-EF6F-4266-877D-0A24DDD4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67425"/>
            <a:ext cx="10896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建议10月提交大纲初稿 三院共用示范口径 并按各院条件细化执行</a:t>
            </a:r>
          </a:p>
        </p:txBody>
      </p:sp>
      <p:sp>
        <p:nvSpPr>
          <p:cNvPr id="43" name="P08-footer">
            <a:extLst xmlns:a="http://schemas.openxmlformats.org/drawingml/2006/main">
              <a:ext uri="{FF2B5EF4-FFF2-40B4-BE49-F238E27FC236}">
                <a16:creationId xmlns:a16="http://schemas.microsoft.com/office/drawing/2014/main" id="{24C1C9AF-0D4F-47B3-A85A-E04AFD30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1038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2024YFF1207000  临床研究病房智慧管理平台研发与应用示范</a:t>
            </a:r>
          </a:p>
        </p:txBody>
      </p:sp>
      <p:sp>
        <p:nvSpPr>
          <p:cNvPr id="44" name="P08-page">
            <a:extLst xmlns:a="http://schemas.openxmlformats.org/drawingml/2006/main">
              <a:ext uri="{FF2B5EF4-FFF2-40B4-BE49-F238E27FC236}">
                <a16:creationId xmlns:a16="http://schemas.microsoft.com/office/drawing/2014/main" id="{6660463D-11ED-4AF1-A6E1-DEFCB01A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5" name="P08-chapter-0-n">
            <a:extLst xmlns:a="http://schemas.openxmlformats.org/drawingml/2006/main">
              <a:ext uri="{FF2B5EF4-FFF2-40B4-BE49-F238E27FC236}">
                <a16:creationId xmlns:a16="http://schemas.microsoft.com/office/drawing/2014/main" id="{2E78539F-F69C-46C3-B174-5C791080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6" name="P08-chapter-0-h">
            <a:extLst xmlns:a="http://schemas.openxmlformats.org/drawingml/2006/main">
              <a:ext uri="{FF2B5EF4-FFF2-40B4-BE49-F238E27FC236}">
                <a16:creationId xmlns:a16="http://schemas.microsoft.com/office/drawing/2014/main" id="{6224C6AA-3E08-4A38-8EE1-1444F9A8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示范目标与依据</a:t>
            </a:r>
          </a:p>
        </p:txBody>
      </p:sp>
      <p:sp>
        <p:nvSpPr>
          <p:cNvPr id="47" name="P08-chapter-0-b">
            <a:extLst xmlns:a="http://schemas.openxmlformats.org/drawingml/2006/main">
              <a:ext uri="{FF2B5EF4-FFF2-40B4-BE49-F238E27FC236}">
                <a16:creationId xmlns:a16="http://schemas.microsoft.com/office/drawing/2014/main" id="{E30AACAC-F9A5-4D4B-9259-0421F389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2133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逐条对应任务书指标</a:t>
            </a:r>
          </a:p>
        </p:txBody>
      </p:sp>
      <p:sp>
        <p:nvSpPr>
          <p:cNvPr id="48" name="P08-chapter-1-n">
            <a:extLst xmlns:a="http://schemas.openxmlformats.org/drawingml/2006/main">
              <a:ext uri="{FF2B5EF4-FFF2-40B4-BE49-F238E27FC236}">
                <a16:creationId xmlns:a16="http://schemas.microsoft.com/office/drawing/2014/main" id="{151D4903-D83B-4367-BA34-FC7AA226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14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9" name="P08-chapter-1-h">
            <a:extLst xmlns:a="http://schemas.openxmlformats.org/drawingml/2006/main">
              <a:ext uri="{FF2B5EF4-FFF2-40B4-BE49-F238E27FC236}">
                <a16:creationId xmlns:a16="http://schemas.microsoft.com/office/drawing/2014/main" id="{E73EAD9E-78C4-4D5E-86F7-BABE2CF3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764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示范范围与场景</a:t>
            </a:r>
          </a:p>
        </p:txBody>
      </p:sp>
      <p:sp>
        <p:nvSpPr>
          <p:cNvPr id="50" name="P08-chapter-1-b">
            <a:extLst xmlns:a="http://schemas.openxmlformats.org/drawingml/2006/main">
              <a:ext uri="{FF2B5EF4-FFF2-40B4-BE49-F238E27FC236}">
                <a16:creationId xmlns:a16="http://schemas.microsoft.com/office/drawing/2014/main" id="{1D7D8348-3914-4C11-B7D9-EB88AA13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38400"/>
            <a:ext cx="2133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医院 科室 项目 角色</a:t>
            </a:r>
          </a:p>
        </p:txBody>
      </p:sp>
      <p:sp>
        <p:nvSpPr>
          <p:cNvPr id="51" name="P08-chapter-2-n">
            <a:extLst xmlns:a="http://schemas.openxmlformats.org/drawingml/2006/main">
              <a:ext uri="{FF2B5EF4-FFF2-40B4-BE49-F238E27FC236}">
                <a16:creationId xmlns:a16="http://schemas.microsoft.com/office/drawing/2014/main" id="{BA001CD1-B0F9-4841-B342-F5B7DEB2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14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2" name="P08-chapter-2-h">
            <a:extLst xmlns:a="http://schemas.openxmlformats.org/drawingml/2006/main">
              <a:ext uri="{FF2B5EF4-FFF2-40B4-BE49-F238E27FC236}">
                <a16:creationId xmlns:a16="http://schemas.microsoft.com/office/drawing/2014/main" id="{2802C7BC-42B4-48CE-8B83-C075CB8B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764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示范环境与部署</a:t>
            </a:r>
          </a:p>
        </p:txBody>
      </p:sp>
      <p:sp>
        <p:nvSpPr>
          <p:cNvPr id="53" name="P08-chapter-2-b">
            <a:extLst xmlns:a="http://schemas.openxmlformats.org/drawingml/2006/main">
              <a:ext uri="{FF2B5EF4-FFF2-40B4-BE49-F238E27FC236}">
                <a16:creationId xmlns:a16="http://schemas.microsoft.com/office/drawing/2014/main" id="{8A6E76FB-1A89-448D-BF2E-33F296A2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38400"/>
            <a:ext cx="2133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数据 算力 安全边界</a:t>
            </a:r>
          </a:p>
        </p:txBody>
      </p:sp>
      <p:sp>
        <p:nvSpPr>
          <p:cNvPr id="54" name="P08-chapter-3-n">
            <a:extLst xmlns:a="http://schemas.openxmlformats.org/drawingml/2006/main">
              <a:ext uri="{FF2B5EF4-FFF2-40B4-BE49-F238E27FC236}">
                <a16:creationId xmlns:a16="http://schemas.microsoft.com/office/drawing/2014/main" id="{795D4E72-F82C-4480-96C2-BA7A8879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765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5" name="P08-chapter-3-h">
            <a:extLst xmlns:a="http://schemas.openxmlformats.org/drawingml/2006/main">
              <a:ext uri="{FF2B5EF4-FFF2-40B4-BE49-F238E27FC236}">
                <a16:creationId xmlns:a16="http://schemas.microsoft.com/office/drawing/2014/main" id="{BADE9359-7D13-4F8C-8BD3-78F04586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示范内容与流程</a:t>
            </a:r>
          </a:p>
        </p:txBody>
      </p:sp>
      <p:sp>
        <p:nvSpPr>
          <p:cNvPr id="56" name="P08-chapter-3-b">
            <a:extLst xmlns:a="http://schemas.openxmlformats.org/drawingml/2006/main">
              <a:ext uri="{FF2B5EF4-FFF2-40B4-BE49-F238E27FC236}">
                <a16:creationId xmlns:a16="http://schemas.microsoft.com/office/drawing/2014/main" id="{E37E488F-3941-4681-AFE5-F4765DD9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2133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脚本 点位 时长 讲解人</a:t>
            </a:r>
          </a:p>
        </p:txBody>
      </p:sp>
      <p:sp>
        <p:nvSpPr>
          <p:cNvPr id="57" name="P08-chapter-4-n">
            <a:extLst xmlns:a="http://schemas.openxmlformats.org/drawingml/2006/main">
              <a:ext uri="{FF2B5EF4-FFF2-40B4-BE49-F238E27FC236}">
                <a16:creationId xmlns:a16="http://schemas.microsoft.com/office/drawing/2014/main" id="{369DC074-11A7-4154-8A54-CD500841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765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8" name="P08-chapter-4-h">
            <a:extLst xmlns:a="http://schemas.openxmlformats.org/drawingml/2006/main">
              <a:ext uri="{FF2B5EF4-FFF2-40B4-BE49-F238E27FC236}">
                <a16:creationId xmlns:a16="http://schemas.microsoft.com/office/drawing/2014/main" id="{779A4CB0-7883-4AEB-8EF0-88D2939E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3852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数据与证据采集</a:t>
            </a:r>
          </a:p>
        </p:txBody>
      </p:sp>
      <p:sp>
        <p:nvSpPr>
          <p:cNvPr id="59" name="P08-chapter-4-b">
            <a:extLst xmlns:a="http://schemas.openxmlformats.org/drawingml/2006/main">
              <a:ext uri="{FF2B5EF4-FFF2-40B4-BE49-F238E27FC236}">
                <a16:creationId xmlns:a16="http://schemas.microsoft.com/office/drawing/2014/main" id="{939E182F-A6A7-4394-B2D1-D4A4587C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00475"/>
            <a:ext cx="2133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指标定义与对比口径</a:t>
            </a:r>
          </a:p>
        </p:txBody>
      </p:sp>
      <p:sp>
        <p:nvSpPr>
          <p:cNvPr id="60" name="P08-chapter-5-n">
            <a:extLst xmlns:a="http://schemas.openxmlformats.org/drawingml/2006/main">
              <a:ext uri="{FF2B5EF4-FFF2-40B4-BE49-F238E27FC236}">
                <a16:creationId xmlns:a16="http://schemas.microsoft.com/office/drawing/2014/main" id="{D3D3AAA7-5983-48FC-B4F2-A4D8FFB2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765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1" name="P08-chapter-5-h">
            <a:extLst xmlns:a="http://schemas.openxmlformats.org/drawingml/2006/main">
              <a:ext uri="{FF2B5EF4-FFF2-40B4-BE49-F238E27FC236}">
                <a16:creationId xmlns:a16="http://schemas.microsoft.com/office/drawing/2014/main" id="{831A1283-FE3E-4921-A356-C8C3E755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3852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组织分工</a:t>
            </a:r>
          </a:p>
        </p:txBody>
      </p:sp>
      <p:sp>
        <p:nvSpPr>
          <p:cNvPr id="62" name="P08-chapter-5-b">
            <a:extLst xmlns:a="http://schemas.openxmlformats.org/drawingml/2006/main">
              <a:ext uri="{FF2B5EF4-FFF2-40B4-BE49-F238E27FC236}">
                <a16:creationId xmlns:a16="http://schemas.microsoft.com/office/drawing/2014/main" id="{5B63C695-67A0-4BFA-923C-D32B3E91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00475"/>
            <a:ext cx="2133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院方 项目组 实施方</a:t>
            </a:r>
          </a:p>
        </p:txBody>
      </p:sp>
      <p:sp>
        <p:nvSpPr>
          <p:cNvPr id="63" name="P08-chapter-6-n">
            <a:extLst xmlns:a="http://schemas.openxmlformats.org/drawingml/2006/main">
              <a:ext uri="{FF2B5EF4-FFF2-40B4-BE49-F238E27FC236}">
                <a16:creationId xmlns:a16="http://schemas.microsoft.com/office/drawing/2014/main" id="{589A853F-0FEF-415A-BA56-CE889244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4" name="P08-chapter-6-h">
            <a:extLst xmlns:a="http://schemas.openxmlformats.org/drawingml/2006/main">
              <a:ext uri="{FF2B5EF4-FFF2-40B4-BE49-F238E27FC236}">
                <a16:creationId xmlns:a16="http://schemas.microsoft.com/office/drawing/2014/main" id="{886A289D-15AF-4229-938F-34B7B486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进度与彩排安排</a:t>
            </a:r>
          </a:p>
        </p:txBody>
      </p:sp>
      <p:sp>
        <p:nvSpPr>
          <p:cNvPr id="65" name="P08-chapter-6-b">
            <a:extLst xmlns:a="http://schemas.openxmlformats.org/drawingml/2006/main">
              <a:ext uri="{FF2B5EF4-FFF2-40B4-BE49-F238E27FC236}">
                <a16:creationId xmlns:a16="http://schemas.microsoft.com/office/drawing/2014/main" id="{E78C0673-A9FC-4692-B531-2ACB64F5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2133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里程碑与彩排计划</a:t>
            </a:r>
          </a:p>
        </p:txBody>
      </p:sp>
      <p:sp>
        <p:nvSpPr>
          <p:cNvPr id="66" name="P08-chapter-7-n">
            <a:extLst xmlns:a="http://schemas.openxmlformats.org/drawingml/2006/main">
              <a:ext uri="{FF2B5EF4-FFF2-40B4-BE49-F238E27FC236}">
                <a16:creationId xmlns:a16="http://schemas.microsoft.com/office/drawing/2014/main" id="{0AB2933C-1756-47E5-8D87-0F4CB964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38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7" name="P08-chapter-7-h">
            <a:extLst xmlns:a="http://schemas.openxmlformats.org/drawingml/2006/main">
              <a:ext uri="{FF2B5EF4-FFF2-40B4-BE49-F238E27FC236}">
                <a16:creationId xmlns:a16="http://schemas.microsoft.com/office/drawing/2014/main" id="{564E665E-38D4-4512-BD74-B9BCE938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006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风险与兜底预案</a:t>
            </a:r>
          </a:p>
        </p:txBody>
      </p:sp>
      <p:sp>
        <p:nvSpPr>
          <p:cNvPr id="68" name="P08-chapter-7-b">
            <a:extLst xmlns:a="http://schemas.openxmlformats.org/drawingml/2006/main">
              <a:ext uri="{FF2B5EF4-FFF2-40B4-BE49-F238E27FC236}">
                <a16:creationId xmlns:a16="http://schemas.microsoft.com/office/drawing/2014/main" id="{E55AC024-CFC7-4EF6-A061-420B556E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62550"/>
            <a:ext cx="2133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现场与系统应对方案</a:t>
            </a:r>
          </a:p>
        </p:txBody>
      </p:sp>
      <p:sp>
        <p:nvSpPr>
          <p:cNvPr id="69" name="P08-chapter-8-n">
            <a:extLst xmlns:a="http://schemas.openxmlformats.org/drawingml/2006/main">
              <a:ext uri="{FF2B5EF4-FFF2-40B4-BE49-F238E27FC236}">
                <a16:creationId xmlns:a16="http://schemas.microsoft.com/office/drawing/2014/main" id="{485F8A67-F33E-4A99-8C20-A6367B1E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38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0" name="P08-chapter-8-h">
            <a:extLst xmlns:a="http://schemas.openxmlformats.org/drawingml/2006/main">
              <a:ext uri="{FF2B5EF4-FFF2-40B4-BE49-F238E27FC236}">
                <a16:creationId xmlns:a16="http://schemas.microsoft.com/office/drawing/2014/main" id="{BA078E48-D76F-4FDD-B3F7-A57D6FE1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006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留痕与归档</a:t>
            </a:r>
          </a:p>
        </p:txBody>
      </p:sp>
      <p:sp>
        <p:nvSpPr>
          <p:cNvPr id="71" name="P08-chapter-8-b">
            <a:extLst xmlns:a="http://schemas.openxmlformats.org/drawingml/2006/main">
              <a:ext uri="{FF2B5EF4-FFF2-40B4-BE49-F238E27FC236}">
                <a16:creationId xmlns:a16="http://schemas.microsoft.com/office/drawing/2014/main" id="{1CB7E3B3-4DE1-4E97-8F08-E0B37EA5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62550"/>
            <a:ext cx="2133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签到 影像 证明 报告</a:t>
            </a:r>
          </a:p>
        </p:txBody>
      </p:sp>
      <p:sp>
        <p:nvSpPr>
          <p:cNvPr id="72" name="P08-division-rule">
            <a:extLst xmlns:a="http://schemas.openxmlformats.org/drawingml/2006/main">
              <a:ext uri="{FF2B5EF4-FFF2-40B4-BE49-F238E27FC236}">
                <a16:creationId xmlns:a16="http://schemas.microsoft.com/office/drawing/2014/main" id="{217FF6D0-0A72-4BF4-975B-8FF6D59B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85925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2DA"/>
          </a:solidFill>
          <a:ln xmlns:a="http://schemas.openxmlformats.org/drawingml/2006/main" w="0">
            <a:noFill/>
          </a:ln>
        </p:spPr>
      </p:sp>
      <p:sp>
        <p:nvSpPr>
          <p:cNvPr id="73" name="P08-party-0">
            <a:extLst xmlns:a="http://schemas.openxmlformats.org/drawingml/2006/main">
              <a:ext uri="{FF2B5EF4-FFF2-40B4-BE49-F238E27FC236}">
                <a16:creationId xmlns:a16="http://schemas.microsoft.com/office/drawing/2014/main" id="{DDA6B78B-DDF0-40FD-8DEF-61201868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924300" cy="121920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0">
            <a:noFill/>
          </a:ln>
        </p:spPr>
      </p:sp>
      <p:sp>
        <p:nvSpPr>
          <p:cNvPr id="74" name="P08-party-0-h">
            <a:extLst xmlns:a="http://schemas.openxmlformats.org/drawingml/2006/main">
              <a:ext uri="{FF2B5EF4-FFF2-40B4-BE49-F238E27FC236}">
                <a16:creationId xmlns:a16="http://schemas.microsoft.com/office/drawing/2014/main" id="{C8568D58-FA61-4C2D-BF22-4BA84893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669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项目组</a:t>
            </a:r>
          </a:p>
        </p:txBody>
      </p:sp>
      <p:sp>
        <p:nvSpPr>
          <p:cNvPr id="75" name="P08-party-0-b">
            <a:extLst xmlns:a="http://schemas.openxmlformats.org/drawingml/2006/main">
              <a:ext uri="{FF2B5EF4-FFF2-40B4-BE49-F238E27FC236}">
                <a16:creationId xmlns:a16="http://schemas.microsoft.com/office/drawing/2014/main" id="{B16B1AD1-73E1-4C64-AC46-F5BCF4EA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大纲评审与签发</a:t>
            </a:r>
          </a:p>
          <a:p xmlns:a="http://schemas.openxmlformats.org/drawingml/2006/main">
            <a:pPr algn="l">
              <a:defRPr sz="1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示范时间窗与验收口径统一</a:t>
            </a:r>
          </a:p>
        </p:txBody>
      </p:sp>
      <p:sp>
        <p:nvSpPr>
          <p:cNvPr id="76" name="P08-party-1">
            <a:extLst xmlns:a="http://schemas.openxmlformats.org/drawingml/2006/main">
              <a:ext uri="{FF2B5EF4-FFF2-40B4-BE49-F238E27FC236}">
                <a16:creationId xmlns:a16="http://schemas.microsoft.com/office/drawing/2014/main" id="{DE2D5DB6-5D92-40A5-8E35-465F6FD4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76575"/>
            <a:ext cx="3924300" cy="121920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347F84"/>
          </a:solidFill>
          <a:ln xmlns:a="http://schemas.openxmlformats.org/drawingml/2006/main" w="0">
            <a:noFill/>
          </a:ln>
        </p:spPr>
      </p:sp>
      <p:sp>
        <p:nvSpPr>
          <p:cNvPr id="77" name="P08-party-1-h">
            <a:extLst xmlns:a="http://schemas.openxmlformats.org/drawingml/2006/main">
              <a:ext uri="{FF2B5EF4-FFF2-40B4-BE49-F238E27FC236}">
                <a16:creationId xmlns:a16="http://schemas.microsoft.com/office/drawing/2014/main" id="{DE8F4454-F132-4536-90FF-818B277C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289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示范医院</a:t>
            </a:r>
          </a:p>
        </p:txBody>
      </p:sp>
      <p:sp>
        <p:nvSpPr>
          <p:cNvPr id="78" name="P08-party-1-b">
            <a:extLst xmlns:a="http://schemas.openxmlformats.org/drawingml/2006/main">
              <a:ext uri="{FF2B5EF4-FFF2-40B4-BE49-F238E27FC236}">
                <a16:creationId xmlns:a16="http://schemas.microsoft.com/office/drawing/2014/main" id="{72E47416-7B40-4D91-9AC9-C2BB5479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29025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联络人 场地设备 真实项目</a:t>
            </a:r>
          </a:p>
          <a:p xmlns:a="http://schemas.openxmlformats.org/drawingml/2006/main">
            <a:pPr algn="l">
              <a:defRPr sz="1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参与人员与院内讲解人</a:t>
            </a:r>
          </a:p>
        </p:txBody>
      </p:sp>
      <p:sp>
        <p:nvSpPr>
          <p:cNvPr id="79" name="P08-party-2">
            <a:extLst xmlns:a="http://schemas.openxmlformats.org/drawingml/2006/main">
              <a:ext uri="{FF2B5EF4-FFF2-40B4-BE49-F238E27FC236}">
                <a16:creationId xmlns:a16="http://schemas.microsoft.com/office/drawing/2014/main" id="{DB453830-899B-4595-AA7A-4B7543D4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38650"/>
            <a:ext cx="3924300" cy="1219200"/>
          </a:xfrm>
          <a:prstGeom xmlns:a="http://schemas.openxmlformats.org/drawingml/2006/main" prst="roundRect">
            <a:avLst>
              <a:gd name="adj" fmla="val 7031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0">
            <a:noFill/>
          </a:ln>
        </p:spPr>
      </p:sp>
      <p:sp>
        <p:nvSpPr>
          <p:cNvPr id="80" name="P08-party-2-h">
            <a:extLst xmlns:a="http://schemas.openxmlformats.org/drawingml/2006/main">
              <a:ext uri="{FF2B5EF4-FFF2-40B4-BE49-F238E27FC236}">
                <a16:creationId xmlns:a16="http://schemas.microsoft.com/office/drawing/2014/main" id="{C9AB0019-FB9F-48D0-9D75-1ACB768F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910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实施方 长庚与技术团队</a:t>
            </a:r>
          </a:p>
        </p:txBody>
      </p:sp>
      <p:sp>
        <p:nvSpPr>
          <p:cNvPr id="81" name="P08-party-2-b">
            <a:extLst xmlns:a="http://schemas.openxmlformats.org/drawingml/2006/main">
              <a:ext uri="{FF2B5EF4-FFF2-40B4-BE49-F238E27FC236}">
                <a16:creationId xmlns:a16="http://schemas.microsoft.com/office/drawing/2014/main" id="{3E8B1186-4AE0-4AB3-ACF6-400424D3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大纲起草 流程脚本</a:t>
            </a:r>
          </a:p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演示环境与数据 技术支撑</a:t>
            </a:r>
          </a:p>
        </p:txBody>
      </p:sp>
      <p:sp>
        <p:nvSpPr>
          <p:cNvPr id="7" name="P08-template-header">
            <a:extLst xmlns:a="http://schemas.openxmlformats.org/drawingml/2006/main">
              <a:ext uri="{FF2B5EF4-FFF2-40B4-BE49-F238E27FC236}">
                <a16:creationId xmlns:a16="http://schemas.microsoft.com/office/drawing/2014/main" id="{EBF38723-F6C4-42BE-8015-40D5A3AB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35" y="-1270"/>
            <a:ext cx="12191365" cy="740410"/>
          </a:xfrm>
          <a:prstGeom xmlns:a="http://schemas.openxmlformats.org/drawingml/2006/main" prst="round1Rect">
            <a:avLst>
              <a:gd name="adj" fmla="val 27506"/>
            </a:avLst>
          </a:prstGeom>
          <a:gradFill xmlns:a="http://schemas.openxmlformats.org/drawingml/2006/main">
            <a:gsLst>
              <a:gs pos="74000">
                <a:srgbClr val="6AAA9A">
                  <a:alpha val="46000"/>
                </a:srgbClr>
              </a:gs>
              <a:gs pos="100000">
                <a:srgbClr val="7AB39B">
                  <a:alpha val="33000"/>
                </a:srgbClr>
              </a:gs>
              <a:gs pos="47000">
                <a:srgbClr val="5AA199">
                  <a:alpha val="75000"/>
                </a:srgbClr>
              </a:gs>
              <a:gs pos="15000">
                <a:srgbClr val="398F96">
                  <a:alpha val="10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08-title">
            <a:extLst xmlns:a="http://schemas.openxmlformats.org/drawingml/2006/main">
              <a:ext uri="{FF2B5EF4-FFF2-40B4-BE49-F238E27FC236}">
                <a16:creationId xmlns:a16="http://schemas.microsoft.com/office/drawing/2014/main" id="{0F61A04C-4A18-4554-8433-48EDBD9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7" y="77438"/>
            <a:ext cx="8877300" cy="583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应用示范大纲框架与三方分工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4" name="P08-template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ba741714246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3390" y="148590"/>
            <a:ext cx="2664460" cy="4578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660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9" name="P09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148445c4440a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0" name="P09-subtitle">
            <a:extLst xmlns:a="http://schemas.openxmlformats.org/drawingml/2006/main">
              <a:ext uri="{FF2B5EF4-FFF2-40B4-BE49-F238E27FC236}">
                <a16:creationId xmlns:a16="http://schemas.microsoft.com/office/drawing/2014/main" id="{7DD32F82-7B17-44B6-B31D-9663280B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一个真实项目 一名真实受试者 贯穿研究全生命周期</a:t>
            </a:r>
          </a:p>
        </p:txBody>
      </p:sp>
      <p:sp>
        <p:nvSpPr>
          <p:cNvPr id="41" name="P09-conclusion-band">
            <a:extLst xmlns:a="http://schemas.openxmlformats.org/drawingml/2006/main">
              <a:ext uri="{FF2B5EF4-FFF2-40B4-BE49-F238E27FC236}">
                <a16:creationId xmlns:a16="http://schemas.microsoft.com/office/drawing/2014/main" id="{FA75AD3B-5EA5-476E-A81A-10387B35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91225"/>
            <a:ext cx="112776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0">
            <a:noFill/>
          </a:ln>
        </p:spPr>
      </p:sp>
      <p:sp>
        <p:nvSpPr>
          <p:cNvPr id="42" name="P09-conclusion">
            <a:extLst xmlns:a="http://schemas.openxmlformats.org/drawingml/2006/main">
              <a:ext uri="{FF2B5EF4-FFF2-40B4-BE49-F238E27FC236}">
                <a16:creationId xmlns:a16="http://schemas.microsoft.com/office/drawing/2014/main" id="{A44A35B4-0BF9-4F73-BDE1-9ACCF81F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67425"/>
            <a:ext cx="10896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以真实使用角色串联8个环节 逐项展示流程 数据与效率变化</a:t>
            </a:r>
          </a:p>
        </p:txBody>
      </p:sp>
      <p:sp>
        <p:nvSpPr>
          <p:cNvPr id="43" name="P09-footer">
            <a:extLst xmlns:a="http://schemas.openxmlformats.org/drawingml/2006/main">
              <a:ext uri="{FF2B5EF4-FFF2-40B4-BE49-F238E27FC236}">
                <a16:creationId xmlns:a16="http://schemas.microsoft.com/office/drawing/2014/main" id="{88CAA897-655A-441C-9D0E-5FBA08BC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1038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2024YFF1207000  临床研究病房智慧管理平台研发与应用示范</a:t>
            </a:r>
          </a:p>
        </p:txBody>
      </p:sp>
      <p:sp>
        <p:nvSpPr>
          <p:cNvPr id="44" name="P09-page">
            <a:extLst xmlns:a="http://schemas.openxmlformats.org/drawingml/2006/main">
              <a:ext uri="{FF2B5EF4-FFF2-40B4-BE49-F238E27FC236}">
                <a16:creationId xmlns:a16="http://schemas.microsoft.com/office/drawing/2014/main" id="{AAA5A0DC-8DD2-4463-B07D-FB800934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5" name="P09-multimodal">
            <a:extLst xmlns:a="http://schemas.openxmlformats.org/drawingml/2006/main">
              <a:ext uri="{FF2B5EF4-FFF2-40B4-BE49-F238E27FC236}">
                <a16:creationId xmlns:a16="http://schemas.microsoft.com/office/drawing/2014/main" id="{18651B0A-C600-4038-B28D-BEB37EFD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0225"/>
            <a:ext cx="826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rPr>
              <a:t>友谊多模态生理数据在入组随访与安全监测环节接入</a:t>
            </a:r>
          </a:p>
        </p:txBody>
      </p:sp>
      <p:sp>
        <p:nvSpPr>
          <p:cNvPr id="46" name="P09-step-0">
            <a:extLst xmlns:a="http://schemas.openxmlformats.org/drawingml/2006/main">
              <a:ext uri="{FF2B5EF4-FFF2-40B4-BE49-F238E27FC236}">
                <a16:creationId xmlns:a16="http://schemas.microsoft.com/office/drawing/2014/main" id="{1270BA45-D4DA-4EB0-9FC0-CA7DB26D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38425"/>
            <a:ext cx="1276350" cy="2124075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47" name="P09-step-0-n">
            <a:extLst xmlns:a="http://schemas.openxmlformats.org/drawingml/2006/main">
              <a:ext uri="{FF2B5EF4-FFF2-40B4-BE49-F238E27FC236}">
                <a16:creationId xmlns:a16="http://schemas.microsoft.com/office/drawing/2014/main" id="{75250D4A-4974-4284-A850-A573898B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28925"/>
            <a:ext cx="102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8" name="P09-step-0-h">
            <a:extLst xmlns:a="http://schemas.openxmlformats.org/drawingml/2006/main">
              <a:ext uri="{FF2B5EF4-FFF2-40B4-BE49-F238E27FC236}">
                <a16:creationId xmlns:a16="http://schemas.microsoft.com/office/drawing/2014/main" id="{40152DB4-F163-4DE1-B128-EBAB5731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立项与方案</a:t>
            </a:r>
          </a:p>
        </p:txBody>
      </p:sp>
      <p:sp>
        <p:nvSpPr>
          <p:cNvPr id="49" name="P09-step-0-b">
            <a:extLst xmlns:a="http://schemas.openxmlformats.org/drawingml/2006/main">
              <a:ext uri="{FF2B5EF4-FFF2-40B4-BE49-F238E27FC236}">
                <a16:creationId xmlns:a16="http://schemas.microsoft.com/office/drawing/2014/main" id="{53EA00B0-CE61-4654-864E-C523EF2A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24325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AI辅助</a:t>
            </a:r>
          </a:p>
          <a:p xmlns:a="http://schemas.openxmlformats.org/drawingml/2006/main">
            <a:pPr algn="ctr">
              <a:def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50" name="P09-step-1">
            <a:extLst xmlns:a="http://schemas.openxmlformats.org/drawingml/2006/main">
              <a:ext uri="{FF2B5EF4-FFF2-40B4-BE49-F238E27FC236}">
                <a16:creationId xmlns:a16="http://schemas.microsoft.com/office/drawing/2014/main" id="{F2CE7E5E-776A-4240-9B97-A4786F98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638425"/>
            <a:ext cx="1276350" cy="2124075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51" name="P09-step-1-n">
            <a:extLst xmlns:a="http://schemas.openxmlformats.org/drawingml/2006/main">
              <a:ext uri="{FF2B5EF4-FFF2-40B4-BE49-F238E27FC236}">
                <a16:creationId xmlns:a16="http://schemas.microsoft.com/office/drawing/2014/main" id="{F7FEE10E-94E5-439E-9050-46A169BE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28925"/>
            <a:ext cx="102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2" name="P09-step-1-h">
            <a:extLst xmlns:a="http://schemas.openxmlformats.org/drawingml/2006/main">
              <a:ext uri="{FF2B5EF4-FFF2-40B4-BE49-F238E27FC236}">
                <a16:creationId xmlns:a16="http://schemas.microsoft.com/office/drawing/2014/main" id="{872A3C22-591E-458F-B5ED-FE108D91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480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可行性分析</a:t>
            </a:r>
          </a:p>
        </p:txBody>
      </p:sp>
      <p:sp>
        <p:nvSpPr>
          <p:cNvPr id="53" name="P09-step-1-b">
            <a:extLst xmlns:a="http://schemas.openxmlformats.org/drawingml/2006/main">
              <a:ext uri="{FF2B5EF4-FFF2-40B4-BE49-F238E27FC236}">
                <a16:creationId xmlns:a16="http://schemas.microsoft.com/office/drawing/2014/main" id="{C8A4D4D2-BE69-4936-BFB1-0F2075DB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24325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院内数据</a:t>
            </a:r>
          </a:p>
          <a:p xmlns:a="http://schemas.openxmlformats.org/drawingml/2006/main">
            <a:pPr algn="ctr">
              <a:def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受试者预筛</a:t>
            </a:r>
          </a:p>
        </p:txBody>
      </p:sp>
      <p:cxnSp>
        <p:nvCxnSpPr>
          <p:cNvPr id="129" name="P09-step-link-1"/>
          <p:cNvCxnSpPr>
            <a:stCxn xmlns:a="http://schemas.openxmlformats.org/drawingml/2006/main" id="46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1733550" y="370046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sp>
        <p:nvSpPr>
          <p:cNvPr id="54" name="P09-step-2">
            <a:extLst xmlns:a="http://schemas.openxmlformats.org/drawingml/2006/main">
              <a:ext uri="{FF2B5EF4-FFF2-40B4-BE49-F238E27FC236}">
                <a16:creationId xmlns:a16="http://schemas.microsoft.com/office/drawing/2014/main" id="{C0EA92B6-BCC8-4595-B518-9C19BE2F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38425"/>
            <a:ext cx="1276350" cy="2124075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55" name="P09-step-2-n">
            <a:extLst xmlns:a="http://schemas.openxmlformats.org/drawingml/2006/main">
              <a:ext uri="{FF2B5EF4-FFF2-40B4-BE49-F238E27FC236}">
                <a16:creationId xmlns:a16="http://schemas.microsoft.com/office/drawing/2014/main" id="{8E94CE66-183C-4FE6-B87B-8C851CA9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28925"/>
            <a:ext cx="102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6" name="P09-step-2-h">
            <a:extLst xmlns:a="http://schemas.openxmlformats.org/drawingml/2006/main">
              <a:ext uri="{FF2B5EF4-FFF2-40B4-BE49-F238E27FC236}">
                <a16:creationId xmlns:a16="http://schemas.microsoft.com/office/drawing/2014/main" id="{BA1CE54D-EC55-4AA6-A623-43A61E75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480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招募与知情</a:t>
            </a:r>
          </a:p>
        </p:txBody>
      </p:sp>
      <p:sp>
        <p:nvSpPr>
          <p:cNvPr id="57" name="P09-step-2-b">
            <a:extLst xmlns:a="http://schemas.openxmlformats.org/drawingml/2006/main">
              <a:ext uri="{FF2B5EF4-FFF2-40B4-BE49-F238E27FC236}">
                <a16:creationId xmlns:a16="http://schemas.microsoft.com/office/drawing/2014/main" id="{4681F7FB-6829-4FC0-8C88-0956BED9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24325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小程序 扫码</a:t>
            </a:r>
          </a:p>
          <a:p xmlns:a="http://schemas.openxmlformats.org/drawingml/2006/main">
            <a:pPr algn="ctr">
              <a:def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ePRO</a:t>
            </a:r>
          </a:p>
        </p:txBody>
      </p:sp>
      <p:cxnSp>
        <p:nvCxnSpPr>
          <p:cNvPr id="130" name="P09-step-link-2"/>
          <p:cNvCxnSpPr>
            <a:stCxn xmlns:a="http://schemas.openxmlformats.org/drawingml/2006/main" id="50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3162300" y="370046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sp>
        <p:nvSpPr>
          <p:cNvPr id="58" name="P09-step-3">
            <a:extLst xmlns:a="http://schemas.openxmlformats.org/drawingml/2006/main">
              <a:ext uri="{FF2B5EF4-FFF2-40B4-BE49-F238E27FC236}">
                <a16:creationId xmlns:a16="http://schemas.microsoft.com/office/drawing/2014/main" id="{941EA8B1-EF8A-47C9-8ADF-03A04D35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38425"/>
            <a:ext cx="1276350" cy="2124075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59" name="P09-step-3-n">
            <a:extLst xmlns:a="http://schemas.openxmlformats.org/drawingml/2006/main">
              <a:ext uri="{FF2B5EF4-FFF2-40B4-BE49-F238E27FC236}">
                <a16:creationId xmlns:a16="http://schemas.microsoft.com/office/drawing/2014/main" id="{E53E8050-B49B-4525-81F5-900F9080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28925"/>
            <a:ext cx="102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0" name="P09-step-3-h">
            <a:extLst xmlns:a="http://schemas.openxmlformats.org/drawingml/2006/main">
              <a:ext uri="{FF2B5EF4-FFF2-40B4-BE49-F238E27FC236}">
                <a16:creationId xmlns:a16="http://schemas.microsoft.com/office/drawing/2014/main" id="{AC1F44B5-615C-47AD-AB3D-7894F8F0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480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入组随访</a:t>
            </a:r>
          </a:p>
        </p:txBody>
      </p:sp>
      <p:sp>
        <p:nvSpPr>
          <p:cNvPr id="61" name="P09-step-3-b">
            <a:extLst xmlns:a="http://schemas.openxmlformats.org/drawingml/2006/main">
              <a:ext uri="{FF2B5EF4-FFF2-40B4-BE49-F238E27FC236}">
                <a16:creationId xmlns:a16="http://schemas.microsoft.com/office/drawing/2014/main" id="{F299C90A-936E-439A-BDB2-4D39F853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24325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EDC数据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自动采集</a:t>
            </a:r>
          </a:p>
        </p:txBody>
      </p:sp>
      <p:cxnSp>
        <p:nvCxnSpPr>
          <p:cNvPr id="131" name="P09-step-link-3"/>
          <p:cNvCxnSpPr>
            <a:stCxn xmlns:a="http://schemas.openxmlformats.org/drawingml/2006/main" id="54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4591050" y="370046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sp>
        <p:nvSpPr>
          <p:cNvPr id="62" name="P09-step-4">
            <a:extLst xmlns:a="http://schemas.openxmlformats.org/drawingml/2006/main">
              <a:ext uri="{FF2B5EF4-FFF2-40B4-BE49-F238E27FC236}">
                <a16:creationId xmlns:a16="http://schemas.microsoft.com/office/drawing/2014/main" id="{4F083444-0076-4144-95CF-A8A281A6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38425"/>
            <a:ext cx="1276350" cy="2124075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63" name="P09-step-4-n">
            <a:extLst xmlns:a="http://schemas.openxmlformats.org/drawingml/2006/main">
              <a:ext uri="{FF2B5EF4-FFF2-40B4-BE49-F238E27FC236}">
                <a16:creationId xmlns:a16="http://schemas.microsoft.com/office/drawing/2014/main" id="{03DFD050-80A5-4B98-8C54-8F19A56B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28925"/>
            <a:ext cx="102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4" name="P09-step-4-h">
            <a:extLst xmlns:a="http://schemas.openxmlformats.org/drawingml/2006/main">
              <a:ext uri="{FF2B5EF4-FFF2-40B4-BE49-F238E27FC236}">
                <a16:creationId xmlns:a16="http://schemas.microsoft.com/office/drawing/2014/main" id="{C46268AF-17C1-4079-8540-30E41381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480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安全监测</a:t>
            </a:r>
          </a:p>
        </p:txBody>
      </p:sp>
      <p:sp>
        <p:nvSpPr>
          <p:cNvPr id="65" name="P09-step-4-b">
            <a:extLst xmlns:a="http://schemas.openxmlformats.org/drawingml/2006/main">
              <a:ext uri="{FF2B5EF4-FFF2-40B4-BE49-F238E27FC236}">
                <a16:creationId xmlns:a16="http://schemas.microsoft.com/office/drawing/2014/main" id="{113A27B5-0066-4E97-92D5-407594F5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24325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不良事件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预警</a:t>
            </a:r>
          </a:p>
        </p:txBody>
      </p:sp>
      <p:cxnSp>
        <p:nvCxnSpPr>
          <p:cNvPr id="132" name="P09-step-link-4"/>
          <p:cNvCxnSpPr>
            <a:stCxn xmlns:a="http://schemas.openxmlformats.org/drawingml/2006/main" id="58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6019800" y="370046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sp>
        <p:nvSpPr>
          <p:cNvPr id="66" name="P09-step-5">
            <a:extLst xmlns:a="http://schemas.openxmlformats.org/drawingml/2006/main">
              <a:ext uri="{FF2B5EF4-FFF2-40B4-BE49-F238E27FC236}">
                <a16:creationId xmlns:a16="http://schemas.microsoft.com/office/drawing/2014/main" id="{680433A8-F96F-4950-9E49-1974516B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38425"/>
            <a:ext cx="1276350" cy="2124075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67" name="P09-step-5-n">
            <a:extLst xmlns:a="http://schemas.openxmlformats.org/drawingml/2006/main">
              <a:ext uri="{FF2B5EF4-FFF2-40B4-BE49-F238E27FC236}">
                <a16:creationId xmlns:a16="http://schemas.microsoft.com/office/drawing/2014/main" id="{996142B1-2662-4B67-8D49-E183CA49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28925"/>
            <a:ext cx="102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8" name="P09-step-5-h">
            <a:extLst xmlns:a="http://schemas.openxmlformats.org/drawingml/2006/main">
              <a:ext uri="{FF2B5EF4-FFF2-40B4-BE49-F238E27FC236}">
                <a16:creationId xmlns:a16="http://schemas.microsoft.com/office/drawing/2014/main" id="{22B71B98-F545-4865-A678-89757F4B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480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远程监查</a:t>
            </a:r>
          </a:p>
        </p:txBody>
      </p:sp>
      <p:sp>
        <p:nvSpPr>
          <p:cNvPr id="69" name="P09-step-5-b">
            <a:extLst xmlns:a="http://schemas.openxmlformats.org/drawingml/2006/main">
              <a:ext uri="{FF2B5EF4-FFF2-40B4-BE49-F238E27FC236}">
                <a16:creationId xmlns:a16="http://schemas.microsoft.com/office/drawing/2014/main" id="{D377A2E9-2255-4B29-A553-1DEC4221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24325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CRA源数据</a:t>
            </a:r>
          </a:p>
          <a:p xmlns:a="http://schemas.openxmlformats.org/drawingml/2006/main">
            <a:pPr algn="ctr">
              <a:def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核查</a:t>
            </a:r>
          </a:p>
        </p:txBody>
      </p:sp>
      <p:cxnSp>
        <p:nvCxnSpPr>
          <p:cNvPr id="133" name="P09-step-link-5"/>
          <p:cNvCxnSpPr>
            <a:stCxn xmlns:a="http://schemas.openxmlformats.org/drawingml/2006/main" id="62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7448550" y="370046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sp>
        <p:nvSpPr>
          <p:cNvPr id="70" name="P09-step-6">
            <a:extLst xmlns:a="http://schemas.openxmlformats.org/drawingml/2006/main">
              <a:ext uri="{FF2B5EF4-FFF2-40B4-BE49-F238E27FC236}">
                <a16:creationId xmlns:a16="http://schemas.microsoft.com/office/drawing/2014/main" id="{24F5B719-C718-4088-995D-F74E3160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38425"/>
            <a:ext cx="1276350" cy="2124075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71" name="P09-step-6-n">
            <a:extLst xmlns:a="http://schemas.openxmlformats.org/drawingml/2006/main">
              <a:ext uri="{FF2B5EF4-FFF2-40B4-BE49-F238E27FC236}">
                <a16:creationId xmlns:a16="http://schemas.microsoft.com/office/drawing/2014/main" id="{16EF1FE5-DFE7-4827-A6EB-A0FC6EDE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28925"/>
            <a:ext cx="102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2" name="P09-step-6-h">
            <a:extLst xmlns:a="http://schemas.openxmlformats.org/drawingml/2006/main">
              <a:ext uri="{FF2B5EF4-FFF2-40B4-BE49-F238E27FC236}">
                <a16:creationId xmlns:a16="http://schemas.microsoft.com/office/drawing/2014/main" id="{6D22515D-566B-4942-89DB-8D4A22B4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480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数据锁定</a:t>
            </a:r>
          </a:p>
        </p:txBody>
      </p:sp>
      <p:sp>
        <p:nvSpPr>
          <p:cNvPr id="73" name="P09-step-6-b">
            <a:extLst xmlns:a="http://schemas.openxmlformats.org/drawingml/2006/main">
              <a:ext uri="{FF2B5EF4-FFF2-40B4-BE49-F238E27FC236}">
                <a16:creationId xmlns:a16="http://schemas.microsoft.com/office/drawing/2014/main" id="{FC63ED74-F99F-482A-B062-338766E7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24325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统计分析</a:t>
            </a:r>
          </a:p>
        </p:txBody>
      </p:sp>
      <p:cxnSp>
        <p:nvCxnSpPr>
          <p:cNvPr id="134" name="P09-step-link-6"/>
          <p:cNvCxnSpPr>
            <a:stCxn xmlns:a="http://schemas.openxmlformats.org/drawingml/2006/main" id="66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8877300" y="370046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sp>
        <p:nvSpPr>
          <p:cNvPr id="74" name="P09-step-7">
            <a:extLst xmlns:a="http://schemas.openxmlformats.org/drawingml/2006/main">
              <a:ext uri="{FF2B5EF4-FFF2-40B4-BE49-F238E27FC236}">
                <a16:creationId xmlns:a16="http://schemas.microsoft.com/office/drawing/2014/main" id="{C9996506-DD10-4D40-ACD1-B875CF0B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38425"/>
            <a:ext cx="1276350" cy="2124075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75" name="P09-step-7-n">
            <a:extLst xmlns:a="http://schemas.openxmlformats.org/drawingml/2006/main">
              <a:ext uri="{FF2B5EF4-FFF2-40B4-BE49-F238E27FC236}">
                <a16:creationId xmlns:a16="http://schemas.microsoft.com/office/drawing/2014/main" id="{F4239345-2A54-4257-B5F7-A26F5DA2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828925"/>
            <a:ext cx="102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6" name="P09-step-7-h">
            <a:extLst xmlns:a="http://schemas.openxmlformats.org/drawingml/2006/main">
              <a:ext uri="{FF2B5EF4-FFF2-40B4-BE49-F238E27FC236}">
                <a16:creationId xmlns:a16="http://schemas.microsoft.com/office/drawing/2014/main" id="{52A8A739-567B-420F-B1D9-62691BC1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4480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管理决策</a:t>
            </a:r>
          </a:p>
        </p:txBody>
      </p:sp>
      <p:sp>
        <p:nvSpPr>
          <p:cNvPr id="77" name="P09-step-7-b">
            <a:extLst xmlns:a="http://schemas.openxmlformats.org/drawingml/2006/main">
              <a:ext uri="{FF2B5EF4-FFF2-40B4-BE49-F238E27FC236}">
                <a16:creationId xmlns:a16="http://schemas.microsoft.com/office/drawing/2014/main" id="{61F7A3B4-BC7E-44C7-9140-FE6BB4BE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24325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机构总览</a:t>
            </a:r>
          </a:p>
          <a:p xmlns:a="http://schemas.openxmlformats.org/drawingml/2006/main">
            <a:pPr algn="ctr">
              <a:def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大屏</a:t>
            </a:r>
          </a:p>
        </p:txBody>
      </p:sp>
      <p:cxnSp>
        <p:nvCxnSpPr>
          <p:cNvPr id="135" name="P09-step-link-7"/>
          <p:cNvCxnSpPr>
            <a:stCxn xmlns:a="http://schemas.openxmlformats.org/drawingml/2006/main" id="70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10306050" y="370046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sp>
        <p:nvSpPr>
          <p:cNvPr id="78" name="P09-evidence-rule">
            <a:extLst xmlns:a="http://schemas.openxmlformats.org/drawingml/2006/main">
              <a:ext uri="{FF2B5EF4-FFF2-40B4-BE49-F238E27FC236}">
                <a16:creationId xmlns:a16="http://schemas.microsoft.com/office/drawing/2014/main" id="{8C8FB795-035A-4285-A12C-02BAB772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277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各点位统一讲解 人工流程 平台流程与实测效率变化</a:t>
            </a:r>
          </a:p>
        </p:txBody>
      </p:sp>
      <p:sp>
        <p:nvSpPr>
          <p:cNvPr id="7" name="P09-template-header">
            <a:extLst xmlns:a="http://schemas.openxmlformats.org/drawingml/2006/main">
              <a:ext uri="{FF2B5EF4-FFF2-40B4-BE49-F238E27FC236}">
                <a16:creationId xmlns:a16="http://schemas.microsoft.com/office/drawing/2014/main" id="{EBF38723-F6C4-42BE-8015-40D5A3AB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35" y="-1270"/>
            <a:ext cx="12191365" cy="740410"/>
          </a:xfrm>
          <a:prstGeom xmlns:a="http://schemas.openxmlformats.org/drawingml/2006/main" prst="round1Rect">
            <a:avLst>
              <a:gd name="adj" fmla="val 27506"/>
            </a:avLst>
          </a:prstGeom>
          <a:gradFill xmlns:a="http://schemas.openxmlformats.org/drawingml/2006/main">
            <a:gsLst>
              <a:gs pos="74000">
                <a:srgbClr val="6AAA9A">
                  <a:alpha val="46000"/>
                </a:srgbClr>
              </a:gs>
              <a:gs pos="100000">
                <a:srgbClr val="7AB39B">
                  <a:alpha val="33000"/>
                </a:srgbClr>
              </a:gs>
              <a:gs pos="47000">
                <a:srgbClr val="5AA199">
                  <a:alpha val="75000"/>
                </a:srgbClr>
              </a:gs>
              <a:gs pos="15000">
                <a:srgbClr val="398F96">
                  <a:alpha val="10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09-title">
            <a:extLst xmlns:a="http://schemas.openxmlformats.org/drawingml/2006/main">
              <a:ext uri="{FF2B5EF4-FFF2-40B4-BE49-F238E27FC236}">
                <a16:creationId xmlns:a16="http://schemas.microsoft.com/office/drawing/2014/main" id="{0F61A04C-4A18-4554-8433-48EDBD9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7" y="77438"/>
            <a:ext cx="8877300" cy="583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现场示范主线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8" name="P09-template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b5de26e9e4a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3390" y="148590"/>
            <a:ext cx="2664460" cy="4578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660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8" name="P10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129fcebbe488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0" name="P10-subtitle">
            <a:extLst xmlns:a="http://schemas.openxmlformats.org/drawingml/2006/main">
              <a:ext uri="{FF2B5EF4-FFF2-40B4-BE49-F238E27FC236}">
                <a16:creationId xmlns:a16="http://schemas.microsoft.com/office/drawing/2014/main" id="{0BA18723-DD52-4D93-AF33-2FD20E57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建议参观路径根据院内实际场地安排</a:t>
            </a:r>
          </a:p>
        </p:txBody>
      </p:sp>
      <p:sp>
        <p:nvSpPr>
          <p:cNvPr id="41" name="P10-conclusion-band">
            <a:extLst xmlns:a="http://schemas.openxmlformats.org/drawingml/2006/main">
              <a:ext uri="{FF2B5EF4-FFF2-40B4-BE49-F238E27FC236}">
                <a16:creationId xmlns:a16="http://schemas.microsoft.com/office/drawing/2014/main" id="{553585E5-1041-4F16-B81F-AD7C7663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91225"/>
            <a:ext cx="112776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0">
            <a:noFill/>
          </a:ln>
        </p:spPr>
      </p:sp>
      <p:sp>
        <p:nvSpPr>
          <p:cNvPr id="42" name="P10-conclusion">
            <a:extLst xmlns:a="http://schemas.openxmlformats.org/drawingml/2006/main">
              <a:ext uri="{FF2B5EF4-FFF2-40B4-BE49-F238E27FC236}">
                <a16:creationId xmlns:a16="http://schemas.microsoft.com/office/drawing/2014/main" id="{0A724E2C-6D26-419B-8E5C-42D166B0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67425"/>
            <a:ext cx="10896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示范当天同步采集效率 使用留痕与成果材料 形成验收证据</a:t>
            </a:r>
          </a:p>
        </p:txBody>
      </p:sp>
      <p:sp>
        <p:nvSpPr>
          <p:cNvPr id="43" name="P10-footer">
            <a:extLst xmlns:a="http://schemas.openxmlformats.org/drawingml/2006/main">
              <a:ext uri="{FF2B5EF4-FFF2-40B4-BE49-F238E27FC236}">
                <a16:creationId xmlns:a16="http://schemas.microsoft.com/office/drawing/2014/main" id="{5EC18488-98E8-4E9B-8FB3-BF392DA1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1038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2024YFF1207000  临床研究病房智慧管理平台研发与应用示范</a:t>
            </a:r>
          </a:p>
        </p:txBody>
      </p:sp>
      <p:sp>
        <p:nvSpPr>
          <p:cNvPr id="44" name="P10-page">
            <a:extLst xmlns:a="http://schemas.openxmlformats.org/drawingml/2006/main">
              <a:ext uri="{FF2B5EF4-FFF2-40B4-BE49-F238E27FC236}">
                <a16:creationId xmlns:a16="http://schemas.microsoft.com/office/drawing/2014/main" id="{D3DB0389-FCCF-4844-ACD5-4A84297E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5" name="P10-route-label">
            <a:extLst xmlns:a="http://schemas.openxmlformats.org/drawingml/2006/main">
              <a:ext uri="{FF2B5EF4-FFF2-40B4-BE49-F238E27FC236}">
                <a16:creationId xmlns:a16="http://schemas.microsoft.com/office/drawing/2014/main" id="{D8273AF2-01F5-430E-9E07-4DD86FED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六个示范点位</a:t>
            </a:r>
          </a:p>
        </p:txBody>
      </p:sp>
      <p:sp>
        <p:nvSpPr>
          <p:cNvPr id="46" name="P10-point-0">
            <a:extLst xmlns:a="http://schemas.openxmlformats.org/drawingml/2006/main">
              <a:ext uri="{FF2B5EF4-FFF2-40B4-BE49-F238E27FC236}">
                <a16:creationId xmlns:a16="http://schemas.microsoft.com/office/drawing/2014/main" id="{1B489550-2FF0-4666-A75F-5674E254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1809750" cy="1323975"/>
          </a:xfrm>
          <a:prstGeom xmlns:a="http://schemas.openxmlformats.org/drawingml/2006/main" prst="roundRect">
            <a:avLst>
              <a:gd name="adj" fmla="val 7194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47" name="P10-point-0-n">
            <a:extLst xmlns:a="http://schemas.openxmlformats.org/drawingml/2006/main">
              <a:ext uri="{FF2B5EF4-FFF2-40B4-BE49-F238E27FC236}">
                <a16:creationId xmlns:a16="http://schemas.microsoft.com/office/drawing/2014/main" id="{9194A2BD-5751-4BBD-83A1-91D5B296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8" name="P10-point-0-h">
            <a:extLst xmlns:a="http://schemas.openxmlformats.org/drawingml/2006/main">
              <a:ext uri="{FF2B5EF4-FFF2-40B4-BE49-F238E27FC236}">
                <a16:creationId xmlns:a16="http://schemas.microsoft.com/office/drawing/2014/main" id="{2E4EDFF6-795D-4437-91B1-095BE9F5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走廊智慧大屏</a:t>
            </a:r>
          </a:p>
        </p:txBody>
      </p:sp>
      <p:sp>
        <p:nvSpPr>
          <p:cNvPr id="49" name="P10-point-0-b">
            <a:extLst xmlns:a="http://schemas.openxmlformats.org/drawingml/2006/main">
              <a:ext uri="{FF2B5EF4-FFF2-40B4-BE49-F238E27FC236}">
                <a16:creationId xmlns:a16="http://schemas.microsoft.com/office/drawing/2014/main" id="{7A9C452E-058D-414C-BA29-7CD02CD3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机构办</a:t>
            </a:r>
          </a:p>
        </p:txBody>
      </p:sp>
      <p:sp>
        <p:nvSpPr>
          <p:cNvPr id="50" name="P10-point-1">
            <a:extLst xmlns:a="http://schemas.openxmlformats.org/drawingml/2006/main">
              <a:ext uri="{FF2B5EF4-FFF2-40B4-BE49-F238E27FC236}">
                <a16:creationId xmlns:a16="http://schemas.microsoft.com/office/drawing/2014/main" id="{7E41EF4A-036D-4766-B045-84462A90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09800"/>
            <a:ext cx="1809750" cy="1323975"/>
          </a:xfrm>
          <a:prstGeom xmlns:a="http://schemas.openxmlformats.org/drawingml/2006/main" prst="roundRect">
            <a:avLst>
              <a:gd name="adj" fmla="val 7194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51" name="P10-point-1-n">
            <a:extLst xmlns:a="http://schemas.openxmlformats.org/drawingml/2006/main">
              <a:ext uri="{FF2B5EF4-FFF2-40B4-BE49-F238E27FC236}">
                <a16:creationId xmlns:a16="http://schemas.microsoft.com/office/drawing/2014/main" id="{BCB0E1EF-D088-4D28-8220-2A0C1D36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05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2" name="P10-point-1-h">
            <a:extLst xmlns:a="http://schemas.openxmlformats.org/drawingml/2006/main">
              <a:ext uri="{FF2B5EF4-FFF2-40B4-BE49-F238E27FC236}">
                <a16:creationId xmlns:a16="http://schemas.microsoft.com/office/drawing/2014/main" id="{3D541F5A-D3CC-4CA9-90B5-3B0947C7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241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医生办公室</a:t>
            </a:r>
          </a:p>
        </p:txBody>
      </p:sp>
      <p:sp>
        <p:nvSpPr>
          <p:cNvPr id="53" name="P10-point-1-b">
            <a:extLst xmlns:a="http://schemas.openxmlformats.org/drawingml/2006/main">
              <a:ext uri="{FF2B5EF4-FFF2-40B4-BE49-F238E27FC236}">
                <a16:creationId xmlns:a16="http://schemas.microsoft.com/office/drawing/2014/main" id="{4564F4D8-CC72-41D2-8966-627FBC01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6230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主要研究者</a:t>
            </a:r>
          </a:p>
        </p:txBody>
      </p:sp>
      <p:sp>
        <p:nvSpPr>
          <p:cNvPr id="54" name="P10-point-2">
            <a:extLst xmlns:a="http://schemas.openxmlformats.org/drawingml/2006/main">
              <a:ext uri="{FF2B5EF4-FFF2-40B4-BE49-F238E27FC236}">
                <a16:creationId xmlns:a16="http://schemas.microsoft.com/office/drawing/2014/main" id="{3A60ADBC-613C-4636-A217-6778B325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1809750" cy="1323975"/>
          </a:xfrm>
          <a:prstGeom xmlns:a="http://schemas.openxmlformats.org/drawingml/2006/main" prst="roundRect">
            <a:avLst>
              <a:gd name="adj" fmla="val 7194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55" name="P10-point-2-n">
            <a:extLst xmlns:a="http://schemas.openxmlformats.org/drawingml/2006/main">
              <a:ext uri="{FF2B5EF4-FFF2-40B4-BE49-F238E27FC236}">
                <a16:creationId xmlns:a16="http://schemas.microsoft.com/office/drawing/2014/main" id="{2A3334F6-F7A8-4582-977A-AE73C3F5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05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6" name="P10-point-2-h">
            <a:extLst xmlns:a="http://schemas.openxmlformats.org/drawingml/2006/main">
              <a:ext uri="{FF2B5EF4-FFF2-40B4-BE49-F238E27FC236}">
                <a16:creationId xmlns:a16="http://schemas.microsoft.com/office/drawing/2014/main" id="{A4876483-4E5B-4F59-91E1-C851BACE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241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知情同意室</a:t>
            </a:r>
          </a:p>
        </p:txBody>
      </p:sp>
      <p:sp>
        <p:nvSpPr>
          <p:cNvPr id="57" name="P10-point-2-b">
            <a:extLst xmlns:a="http://schemas.openxmlformats.org/drawingml/2006/main">
              <a:ext uri="{FF2B5EF4-FFF2-40B4-BE49-F238E27FC236}">
                <a16:creationId xmlns:a16="http://schemas.microsoft.com/office/drawing/2014/main" id="{FDFC1D84-0618-4353-B222-5397CD70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6230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CRC与受试者</a:t>
            </a:r>
          </a:p>
        </p:txBody>
      </p:sp>
      <p:sp>
        <p:nvSpPr>
          <p:cNvPr id="58" name="P10-point-3">
            <a:extLst xmlns:a="http://schemas.openxmlformats.org/drawingml/2006/main">
              <a:ext uri="{FF2B5EF4-FFF2-40B4-BE49-F238E27FC236}">
                <a16:creationId xmlns:a16="http://schemas.microsoft.com/office/drawing/2014/main" id="{0F57C3EE-FEE2-4C46-99FD-9129934F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14800"/>
            <a:ext cx="1809750" cy="1323975"/>
          </a:xfrm>
          <a:prstGeom xmlns:a="http://schemas.openxmlformats.org/drawingml/2006/main" prst="roundRect">
            <a:avLst>
              <a:gd name="adj" fmla="val 7194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59" name="P10-point-3-n">
            <a:extLst xmlns:a="http://schemas.openxmlformats.org/drawingml/2006/main">
              <a:ext uri="{FF2B5EF4-FFF2-40B4-BE49-F238E27FC236}">
                <a16:creationId xmlns:a16="http://schemas.microsoft.com/office/drawing/2014/main" id="{6BE52721-D36D-4366-87C8-99C2D47F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0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0" name="P10-point-3-h">
            <a:extLst xmlns:a="http://schemas.openxmlformats.org/drawingml/2006/main">
              <a:ext uri="{FF2B5EF4-FFF2-40B4-BE49-F238E27FC236}">
                <a16:creationId xmlns:a16="http://schemas.microsoft.com/office/drawing/2014/main" id="{750FE539-AB51-48A2-AB59-0FDE5FC2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291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CRC办公区</a:t>
            </a:r>
          </a:p>
        </p:txBody>
      </p:sp>
      <p:sp>
        <p:nvSpPr>
          <p:cNvPr id="61" name="P10-point-3-b">
            <a:extLst xmlns:a="http://schemas.openxmlformats.org/drawingml/2006/main">
              <a:ext uri="{FF2B5EF4-FFF2-40B4-BE49-F238E27FC236}">
                <a16:creationId xmlns:a16="http://schemas.microsoft.com/office/drawing/2014/main" id="{E17A20FB-AEDF-4160-969B-FAFA42FA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06730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CRC</a:t>
            </a:r>
          </a:p>
        </p:txBody>
      </p:sp>
      <p:sp>
        <p:nvSpPr>
          <p:cNvPr id="62" name="P10-point-4">
            <a:extLst xmlns:a="http://schemas.openxmlformats.org/drawingml/2006/main">
              <a:ext uri="{FF2B5EF4-FFF2-40B4-BE49-F238E27FC236}">
                <a16:creationId xmlns:a16="http://schemas.microsoft.com/office/drawing/2014/main" id="{15932DEE-451F-4EB6-A5FE-4C4737E6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114800"/>
            <a:ext cx="1809750" cy="1323975"/>
          </a:xfrm>
          <a:prstGeom xmlns:a="http://schemas.openxmlformats.org/drawingml/2006/main" prst="roundRect">
            <a:avLst>
              <a:gd name="adj" fmla="val 7194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63" name="P10-point-4-n">
            <a:extLst xmlns:a="http://schemas.openxmlformats.org/drawingml/2006/main">
              <a:ext uri="{FF2B5EF4-FFF2-40B4-BE49-F238E27FC236}">
                <a16:creationId xmlns:a16="http://schemas.microsoft.com/office/drawing/2014/main" id="{A19224F7-924C-4D40-89B5-E52EF49B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10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64" name="P10-point-4-h">
            <a:extLst xmlns:a="http://schemas.openxmlformats.org/drawingml/2006/main">
              <a:ext uri="{FF2B5EF4-FFF2-40B4-BE49-F238E27FC236}">
                <a16:creationId xmlns:a16="http://schemas.microsoft.com/office/drawing/2014/main" id="{BE160013-74A7-4055-BE5D-F7AE6985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291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CRA监查位</a:t>
            </a:r>
          </a:p>
        </p:txBody>
      </p:sp>
      <p:sp>
        <p:nvSpPr>
          <p:cNvPr id="65" name="P10-point-4-b">
            <a:extLst xmlns:a="http://schemas.openxmlformats.org/drawingml/2006/main">
              <a:ext uri="{FF2B5EF4-FFF2-40B4-BE49-F238E27FC236}">
                <a16:creationId xmlns:a16="http://schemas.microsoft.com/office/drawing/2014/main" id="{B94163BA-13C7-429C-ACC8-40497BCA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6730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CRA</a:t>
            </a:r>
          </a:p>
        </p:txBody>
      </p:sp>
      <p:sp>
        <p:nvSpPr>
          <p:cNvPr id="66" name="P10-point-5">
            <a:extLst xmlns:a="http://schemas.openxmlformats.org/drawingml/2006/main">
              <a:ext uri="{FF2B5EF4-FFF2-40B4-BE49-F238E27FC236}">
                <a16:creationId xmlns:a16="http://schemas.microsoft.com/office/drawing/2014/main" id="{3FD88B88-7DB2-4015-B7E1-88DD678F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1809750" cy="1323975"/>
          </a:xfrm>
          <a:prstGeom xmlns:a="http://schemas.openxmlformats.org/drawingml/2006/main" prst="roundRect">
            <a:avLst>
              <a:gd name="adj" fmla="val 7194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67" name="P10-point-5-n">
            <a:extLst xmlns:a="http://schemas.openxmlformats.org/drawingml/2006/main">
              <a:ext uri="{FF2B5EF4-FFF2-40B4-BE49-F238E27FC236}">
                <a16:creationId xmlns:a16="http://schemas.microsoft.com/office/drawing/2014/main" id="{D2B21B0E-3C6A-455D-8F4A-328C0EA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68" name="P10-point-5-h">
            <a:extLst xmlns:a="http://schemas.openxmlformats.org/drawingml/2006/main">
              <a:ext uri="{FF2B5EF4-FFF2-40B4-BE49-F238E27FC236}">
                <a16:creationId xmlns:a16="http://schemas.microsoft.com/office/drawing/2014/main" id="{D7C96321-6D3A-4A48-82DD-0059D5B5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机构主任办公室</a:t>
            </a:r>
          </a:p>
        </p:txBody>
      </p:sp>
      <p:sp>
        <p:nvSpPr>
          <p:cNvPr id="69" name="P10-point-5-b">
            <a:extLst xmlns:a="http://schemas.openxmlformats.org/drawingml/2006/main">
              <a:ext uri="{FF2B5EF4-FFF2-40B4-BE49-F238E27FC236}">
                <a16:creationId xmlns:a16="http://schemas.microsoft.com/office/drawing/2014/main" id="{F3BAF8B2-4D36-4F1B-8FF3-1A330174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机构办主任</a:t>
            </a:r>
          </a:p>
        </p:txBody>
      </p:sp>
      <p:cxnSp>
        <p:nvCxnSpPr>
          <p:cNvPr id="129" name="P10-route-1"/>
          <p:cNvCxnSpPr>
            <a:stCxn xmlns:a="http://schemas.openxmlformats.org/drawingml/2006/main" id="46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2266950" y="28717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cxnSp>
        <p:nvCxnSpPr>
          <p:cNvPr id="130" name="P10-route-2"/>
          <p:cNvCxnSpPr>
            <a:stCxn xmlns:a="http://schemas.openxmlformats.org/drawingml/2006/main" id="50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4343400" y="28717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cxnSp>
        <p:nvCxnSpPr>
          <p:cNvPr id="131" name="P10-route-3"/>
          <p:cNvCxnSpPr>
            <a:stCxn xmlns:a="http://schemas.openxmlformats.org/drawingml/2006/main" id="54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5514975" y="3533775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cxnSp>
        <p:nvCxnSpPr>
          <p:cNvPr id="132" name="P10-route-4"/>
          <p:cNvCxnSpPr>
            <a:stCxn xmlns:a="http://schemas.openxmlformats.org/drawingml/2006/main" id="58" idx="1"/>
            <a:endCxn xmlns:a="http://schemas.openxmlformats.org/drawingml/2006/main" id="62" idx="3"/>
          </p:cNvCxnSpPr>
          <p:nvPr/>
        </p:nvCxnSpPr>
        <p:spPr>
          <a:xfrm xmlns:a="http://schemas.openxmlformats.org/drawingml/2006/main" flipH="1">
            <a:off x="4343400" y="47767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cxnSp>
        <p:nvCxnSpPr>
          <p:cNvPr id="133" name="P10-route-5"/>
          <p:cNvCxnSpPr>
            <a:stCxn xmlns:a="http://schemas.openxmlformats.org/drawingml/2006/main" id="62" idx="1"/>
            <a:endCxn xmlns:a="http://schemas.openxmlformats.org/drawingml/2006/main" id="66" idx="3"/>
          </p:cNvCxnSpPr>
          <p:nvPr/>
        </p:nvCxnSpPr>
        <p:spPr>
          <a:xfrm xmlns:a="http://schemas.openxmlformats.org/drawingml/2006/main" flipH="1">
            <a:off x="2266950" y="47767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sp>
        <p:nvSpPr>
          <p:cNvPr id="70" name="P10-evidence-rule">
            <a:extLst xmlns:a="http://schemas.openxmlformats.org/drawingml/2006/main">
              <a:ext uri="{FF2B5EF4-FFF2-40B4-BE49-F238E27FC236}">
                <a16:creationId xmlns:a16="http://schemas.microsoft.com/office/drawing/2014/main" id="{522ABB44-C36B-4BD3-B82F-1D3EF5E7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28775"/>
            <a:ext cx="9525" cy="406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2DA"/>
          </a:solidFill>
          <a:ln xmlns:a="http://schemas.openxmlformats.org/drawingml/2006/main" w="0">
            <a:noFill/>
          </a:ln>
        </p:spPr>
      </p:sp>
      <p:sp>
        <p:nvSpPr>
          <p:cNvPr id="71" name="P10-evidence-title">
            <a:extLst xmlns:a="http://schemas.openxmlformats.org/drawingml/2006/main">
              <a:ext uri="{FF2B5EF4-FFF2-40B4-BE49-F238E27FC236}">
                <a16:creationId xmlns:a16="http://schemas.microsoft.com/office/drawing/2014/main" id="{2D11C9D2-2925-4454-87AD-86BD7E34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19250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三组证据</a:t>
            </a:r>
          </a:p>
        </p:txBody>
      </p:sp>
      <p:sp>
        <p:nvSpPr>
          <p:cNvPr id="72" name="P10-evidence-0-h">
            <a:extLst xmlns:a="http://schemas.openxmlformats.org/drawingml/2006/main">
              <a:ext uri="{FF2B5EF4-FFF2-40B4-BE49-F238E27FC236}">
                <a16:creationId xmlns:a16="http://schemas.microsoft.com/office/drawing/2014/main" id="{5DAB31C7-D9AC-48A5-91B6-9984D675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76450"/>
            <a:ext cx="4448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效率对比</a:t>
            </a:r>
          </a:p>
        </p:txBody>
      </p:sp>
      <p:sp>
        <p:nvSpPr>
          <p:cNvPr id="73" name="P10-evidence-0-b">
            <a:extLst xmlns:a="http://schemas.openxmlformats.org/drawingml/2006/main">
              <a:ext uri="{FF2B5EF4-FFF2-40B4-BE49-F238E27FC236}">
                <a16:creationId xmlns:a16="http://schemas.microsoft.com/office/drawing/2014/main" id="{0F756A6E-B2F1-4C89-A445-D0FAC3F5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71725"/>
            <a:ext cx="4448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方案设计 预筛 EDC录入核查</a:t>
            </a:r>
          </a:p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AE发现时效 监查发现问题数</a:t>
            </a:r>
          </a:p>
        </p:txBody>
      </p:sp>
      <p:sp>
        <p:nvSpPr>
          <p:cNvPr id="74" name="P10-evidence-1-h">
            <a:extLst xmlns:a="http://schemas.openxmlformats.org/drawingml/2006/main">
              <a:ext uri="{FF2B5EF4-FFF2-40B4-BE49-F238E27FC236}">
                <a16:creationId xmlns:a16="http://schemas.microsoft.com/office/drawing/2014/main" id="{799C2A05-9108-4BB9-862A-7B7E65ED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19425"/>
            <a:ext cx="4448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使用留痕</a:t>
            </a:r>
          </a:p>
        </p:txBody>
      </p:sp>
      <p:sp>
        <p:nvSpPr>
          <p:cNvPr id="75" name="P10-evidence-1-b">
            <a:extLst xmlns:a="http://schemas.openxmlformats.org/drawingml/2006/main">
              <a:ext uri="{FF2B5EF4-FFF2-40B4-BE49-F238E27FC236}">
                <a16:creationId xmlns:a16="http://schemas.microsoft.com/office/drawing/2014/main" id="{3EF5A607-6CBF-45EC-A87C-18298584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14700"/>
            <a:ext cx="4448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上线项目与受试者数量</a:t>
            </a:r>
          </a:p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系统日志 活跃用户 满意度</a:t>
            </a:r>
          </a:p>
        </p:txBody>
      </p:sp>
      <p:sp>
        <p:nvSpPr>
          <p:cNvPr id="76" name="P10-evidence-2-h">
            <a:extLst xmlns:a="http://schemas.openxmlformats.org/drawingml/2006/main">
              <a:ext uri="{FF2B5EF4-FFF2-40B4-BE49-F238E27FC236}">
                <a16:creationId xmlns:a16="http://schemas.microsoft.com/office/drawing/2014/main" id="{673303A9-A6C0-4E46-BCDE-DEA2628E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62400"/>
            <a:ext cx="4448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成果材料</a:t>
            </a:r>
          </a:p>
        </p:txBody>
      </p:sp>
      <p:sp>
        <p:nvSpPr>
          <p:cNvPr id="77" name="P10-evidence-2-b">
            <a:extLst xmlns:a="http://schemas.openxmlformats.org/drawingml/2006/main">
              <a:ext uri="{FF2B5EF4-FFF2-40B4-BE49-F238E27FC236}">
                <a16:creationId xmlns:a16="http://schemas.microsoft.com/office/drawing/2014/main" id="{D4167AB0-5309-4AAD-A8AC-503CC811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57675"/>
            <a:ext cx="4448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第三方测评 规范标准</a:t>
            </a:r>
          </a:p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软著 论文</a:t>
            </a:r>
          </a:p>
        </p:txBody>
      </p:sp>
      <p:sp>
        <p:nvSpPr>
          <p:cNvPr id="78" name="P10-interactive-title">
            <a:extLst xmlns:a="http://schemas.openxmlformats.org/drawingml/2006/main">
              <a:ext uri="{FF2B5EF4-FFF2-40B4-BE49-F238E27FC236}">
                <a16:creationId xmlns:a16="http://schemas.microsoft.com/office/drawing/2014/main" id="{486D3288-D8C2-4CE0-A1ED-651FE779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53000"/>
            <a:ext cx="445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两处交互</a:t>
            </a:r>
          </a:p>
        </p:txBody>
      </p:sp>
      <p:sp>
        <p:nvSpPr>
          <p:cNvPr id="79" name="P10-interactive-body">
            <a:extLst xmlns:a="http://schemas.openxmlformats.org/drawingml/2006/main">
              <a:ext uri="{FF2B5EF4-FFF2-40B4-BE49-F238E27FC236}">
                <a16:creationId xmlns:a16="http://schemas.microsoft.com/office/drawing/2014/main" id="{40694867-DD43-450B-8818-5CD43018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14950"/>
            <a:ext cx="455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扫码查看招募小程序在研项目</a:t>
            </a:r>
          </a:p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输入适应症生成方案框架并对比历史方案</a:t>
            </a:r>
          </a:p>
        </p:txBody>
      </p:sp>
      <p:sp>
        <p:nvSpPr>
          <p:cNvPr id="7" name="P10-template-header">
            <a:extLst xmlns:a="http://schemas.openxmlformats.org/drawingml/2006/main">
              <a:ext uri="{FF2B5EF4-FFF2-40B4-BE49-F238E27FC236}">
                <a16:creationId xmlns:a16="http://schemas.microsoft.com/office/drawing/2014/main" id="{EBF38723-F6C4-42BE-8015-40D5A3AB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35" y="-1270"/>
            <a:ext cx="12191365" cy="740410"/>
          </a:xfrm>
          <a:prstGeom xmlns:a="http://schemas.openxmlformats.org/drawingml/2006/main" prst="round1Rect">
            <a:avLst>
              <a:gd name="adj" fmla="val 27506"/>
            </a:avLst>
          </a:prstGeom>
          <a:gradFill xmlns:a="http://schemas.openxmlformats.org/drawingml/2006/main">
            <a:gsLst>
              <a:gs pos="74000">
                <a:srgbClr val="6AAA9A">
                  <a:alpha val="46000"/>
                </a:srgbClr>
              </a:gs>
              <a:gs pos="100000">
                <a:srgbClr val="7AB39B">
                  <a:alpha val="33000"/>
                </a:srgbClr>
              </a:gs>
              <a:gs pos="47000">
                <a:srgbClr val="5AA199">
                  <a:alpha val="75000"/>
                </a:srgbClr>
              </a:gs>
              <a:gs pos="15000">
                <a:srgbClr val="398F96">
                  <a:alpha val="10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10-title">
            <a:extLst xmlns:a="http://schemas.openxmlformats.org/drawingml/2006/main">
              <a:ext uri="{FF2B5EF4-FFF2-40B4-BE49-F238E27FC236}">
                <a16:creationId xmlns:a16="http://schemas.microsoft.com/office/drawing/2014/main" id="{0F61A04C-4A18-4554-8433-48EDBD9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7" y="77438"/>
            <a:ext cx="8877300" cy="583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六个点位 三组证据 两处交互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7" name="P10-template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7bf08f89142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3390" y="148590"/>
            <a:ext cx="2664460" cy="4578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6607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6" name="P11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b414992754c7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0" name="P11-subtitle">
            <a:extLst xmlns:a="http://schemas.openxmlformats.org/drawingml/2006/main">
              <a:ext uri="{FF2B5EF4-FFF2-40B4-BE49-F238E27FC236}">
                <a16:creationId xmlns:a16="http://schemas.microsoft.com/office/drawing/2014/main" id="{CA00EA67-F131-4AF4-8156-1DDF78BD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点位2 医生办公室 讲解人 主要研究者</a:t>
            </a:r>
          </a:p>
        </p:txBody>
      </p:sp>
      <p:sp>
        <p:nvSpPr>
          <p:cNvPr id="41" name="P11-conclusion-band">
            <a:extLst xmlns:a="http://schemas.openxmlformats.org/drawingml/2006/main">
              <a:ext uri="{FF2B5EF4-FFF2-40B4-BE49-F238E27FC236}">
                <a16:creationId xmlns:a16="http://schemas.microsoft.com/office/drawing/2014/main" id="{806ADEEB-0E47-401E-84CA-C15BD091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91225"/>
            <a:ext cx="112776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0">
            <a:noFill/>
          </a:ln>
        </p:spPr>
      </p:sp>
      <p:sp>
        <p:nvSpPr>
          <p:cNvPr id="42" name="P11-conclusion">
            <a:extLst xmlns:a="http://schemas.openxmlformats.org/drawingml/2006/main">
              <a:ext uri="{FF2B5EF4-FFF2-40B4-BE49-F238E27FC236}">
                <a16:creationId xmlns:a16="http://schemas.microsoft.com/office/drawing/2014/main" id="{2C1E53C5-AB98-4AE9-A7D5-C33B58D0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67425"/>
            <a:ext cx="10896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现场输入适应症与关键要素 展示方案框架并与历史方案比对</a:t>
            </a:r>
          </a:p>
        </p:txBody>
      </p:sp>
      <p:sp>
        <p:nvSpPr>
          <p:cNvPr id="43" name="P11-footer">
            <a:extLst xmlns:a="http://schemas.openxmlformats.org/drawingml/2006/main">
              <a:ext uri="{FF2B5EF4-FFF2-40B4-BE49-F238E27FC236}">
                <a16:creationId xmlns:a16="http://schemas.microsoft.com/office/drawing/2014/main" id="{859D5D2F-FB54-4CDF-84A3-E930B788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1038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2024YFF1207000  临床研究病房智慧管理平台研发与应用示范</a:t>
            </a:r>
          </a:p>
        </p:txBody>
      </p:sp>
      <p:sp>
        <p:nvSpPr>
          <p:cNvPr id="44" name="P11-page">
            <a:extLst xmlns:a="http://schemas.openxmlformats.org/drawingml/2006/main">
              <a:ext uri="{FF2B5EF4-FFF2-40B4-BE49-F238E27FC236}">
                <a16:creationId xmlns:a16="http://schemas.microsoft.com/office/drawing/2014/main" id="{9927EAEB-744A-4EDA-BB86-2DBDB03E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62" name="P11-research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69f80489941b6"/>
          <a:srcRect xmlns:a="http://schemas.openxmlformats.org/drawingml/2006/main" l="0" t="3924" r="0" b="3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57350"/>
            <a:ext cx="4914900" cy="3019425"/>
          </a:xfrm>
          <a:prstGeom xmlns:a="http://schemas.openxmlformats.org/drawingml/2006/main" prst="rect">
            <a:avLst/>
          </a:prstGeom>
        </p:spPr>
      </p:pic>
      <p:sp>
        <p:nvSpPr>
          <p:cNvPr id="46" name="P11-screenshot">
            <a:extLst xmlns:a="http://schemas.openxmlformats.org/drawingml/2006/main">
              <a:ext uri="{FF2B5EF4-FFF2-40B4-BE49-F238E27FC236}">
                <a16:creationId xmlns:a16="http://schemas.microsoft.com/office/drawing/2014/main" id="{746DFE25-1C9C-4665-BC21-F224471D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57350"/>
            <a:ext cx="6000750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47" name="P11-compare-0-h">
            <a:extLst xmlns:a="http://schemas.openxmlformats.org/drawingml/2006/main">
              <a:ext uri="{FF2B5EF4-FFF2-40B4-BE49-F238E27FC236}">
                <a16:creationId xmlns:a16="http://schemas.microsoft.com/office/drawing/2014/main" id="{48306E8F-44F0-4EFF-B932-7E5D4FE9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人工流程</a:t>
            </a:r>
          </a:p>
        </p:txBody>
      </p:sp>
      <p:sp>
        <p:nvSpPr>
          <p:cNvPr id="48" name="P11-compare-0-b">
            <a:extLst xmlns:a="http://schemas.openxmlformats.org/drawingml/2006/main">
              <a:ext uri="{FF2B5EF4-FFF2-40B4-BE49-F238E27FC236}">
                <a16:creationId xmlns:a16="http://schemas.microsoft.com/office/drawing/2014/main" id="{B4E94CCF-A6BA-4F1C-9E3E-D8431323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检索文献</a:t>
            </a:r>
          </a:p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手工起草研究方案</a:t>
            </a:r>
          </a:p>
        </p:txBody>
      </p:sp>
      <p:sp>
        <p:nvSpPr>
          <p:cNvPr id="49" name="P11-compare-1-h">
            <a:extLst xmlns:a="http://schemas.openxmlformats.org/drawingml/2006/main">
              <a:ext uri="{FF2B5EF4-FFF2-40B4-BE49-F238E27FC236}">
                <a16:creationId xmlns:a16="http://schemas.microsoft.com/office/drawing/2014/main" id="{F0066F93-B105-463C-A413-50CE90BC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672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平台流程</a:t>
            </a:r>
          </a:p>
        </p:txBody>
      </p:sp>
      <p:sp>
        <p:nvSpPr>
          <p:cNvPr id="50" name="P11-compare-1-b">
            <a:extLst xmlns:a="http://schemas.openxmlformats.org/drawingml/2006/main">
              <a:ext uri="{FF2B5EF4-FFF2-40B4-BE49-F238E27FC236}">
                <a16:creationId xmlns:a16="http://schemas.microsoft.com/office/drawing/2014/main" id="{B4498E68-0790-4289-91AA-4D47F058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5780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输入适应症与关键要素</a:t>
            </a:r>
          </a:p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生成框架与样本量估算</a:t>
            </a:r>
          </a:p>
        </p:txBody>
      </p:sp>
      <p:sp>
        <p:nvSpPr>
          <p:cNvPr id="51" name="P11-compare-2-h">
            <a:extLst xmlns:a="http://schemas.openxmlformats.org/drawingml/2006/main">
              <a:ext uri="{FF2B5EF4-FFF2-40B4-BE49-F238E27FC236}">
                <a16:creationId xmlns:a16="http://schemas.microsoft.com/office/drawing/2014/main" id="{AC7C8C08-24CC-4B26-9864-44F37EBF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672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验证重点</a:t>
            </a:r>
          </a:p>
        </p:txBody>
      </p:sp>
      <p:sp>
        <p:nvSpPr>
          <p:cNvPr id="52" name="P11-compare-2-b">
            <a:extLst xmlns:a="http://schemas.openxmlformats.org/drawingml/2006/main">
              <a:ext uri="{FF2B5EF4-FFF2-40B4-BE49-F238E27FC236}">
                <a16:creationId xmlns:a16="http://schemas.microsoft.com/office/drawing/2014/main" id="{8BCD7CC6-85EE-4CF3-8CCB-9D566166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5780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记录方案设计耗时</a:t>
            </a:r>
          </a:p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与历史方案开展对照</a:t>
            </a:r>
          </a:p>
        </p:txBody>
      </p:sp>
      <p:sp>
        <p:nvSpPr>
          <p:cNvPr id="7" name="P11-template-header">
            <a:extLst xmlns:a="http://schemas.openxmlformats.org/drawingml/2006/main">
              <a:ext uri="{FF2B5EF4-FFF2-40B4-BE49-F238E27FC236}">
                <a16:creationId xmlns:a16="http://schemas.microsoft.com/office/drawing/2014/main" id="{EBF38723-F6C4-42BE-8015-40D5A3AB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35" y="-1270"/>
            <a:ext cx="12191365" cy="740410"/>
          </a:xfrm>
          <a:prstGeom xmlns:a="http://schemas.openxmlformats.org/drawingml/2006/main" prst="round1Rect">
            <a:avLst>
              <a:gd name="adj" fmla="val 27506"/>
            </a:avLst>
          </a:prstGeom>
          <a:gradFill xmlns:a="http://schemas.openxmlformats.org/drawingml/2006/main">
            <a:gsLst>
              <a:gs pos="74000">
                <a:srgbClr val="6AAA9A">
                  <a:alpha val="46000"/>
                </a:srgbClr>
              </a:gs>
              <a:gs pos="100000">
                <a:srgbClr val="7AB39B">
                  <a:alpha val="33000"/>
                </a:srgbClr>
              </a:gs>
              <a:gs pos="47000">
                <a:srgbClr val="5AA199">
                  <a:alpha val="75000"/>
                </a:srgbClr>
              </a:gs>
              <a:gs pos="15000">
                <a:srgbClr val="398F96">
                  <a:alpha val="10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11-title">
            <a:extLst xmlns:a="http://schemas.openxmlformats.org/drawingml/2006/main">
              <a:ext uri="{FF2B5EF4-FFF2-40B4-BE49-F238E27FC236}">
                <a16:creationId xmlns:a16="http://schemas.microsoft.com/office/drawing/2014/main" id="{0F61A04C-4A18-4554-8433-48EDBD9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7" y="77438"/>
            <a:ext cx="8877300" cy="583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场景1 研究方案AI辅助设计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5" name="P11-template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a384ffc834d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3390" y="148590"/>
            <a:ext cx="2664460" cy="4578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660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7" name="P12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cfa1be29a248b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0" name="P12-subtitle">
            <a:extLst xmlns:a="http://schemas.openxmlformats.org/drawingml/2006/main">
              <a:ext uri="{FF2B5EF4-FFF2-40B4-BE49-F238E27FC236}">
                <a16:creationId xmlns:a16="http://schemas.microsoft.com/office/drawing/2014/main" id="{3ECD9F4C-9EE7-4FDD-9B1A-C9A149B1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点位3与4 知情同意室与CRC办公区 讲解人 CRC与受试者</a:t>
            </a:r>
          </a:p>
        </p:txBody>
      </p:sp>
      <p:sp>
        <p:nvSpPr>
          <p:cNvPr id="41" name="P12-conclusion-band">
            <a:extLst xmlns:a="http://schemas.openxmlformats.org/drawingml/2006/main">
              <a:ext uri="{FF2B5EF4-FFF2-40B4-BE49-F238E27FC236}">
                <a16:creationId xmlns:a16="http://schemas.microsoft.com/office/drawing/2014/main" id="{57623955-63E5-4411-AFAC-651EAA8D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91225"/>
            <a:ext cx="112776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0">
            <a:noFill/>
          </a:ln>
        </p:spPr>
      </p:sp>
      <p:sp>
        <p:nvSpPr>
          <p:cNvPr id="42" name="P12-conclusion">
            <a:extLst xmlns:a="http://schemas.openxmlformats.org/drawingml/2006/main">
              <a:ext uri="{FF2B5EF4-FFF2-40B4-BE49-F238E27FC236}">
                <a16:creationId xmlns:a16="http://schemas.microsoft.com/office/drawing/2014/main" id="{2CF6BD69-BBF7-4D3B-8630-FF893B7F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67425"/>
            <a:ext cx="10896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以生理数据自动入库作为友谊示范特色 验证数据追溯与采集效率</a:t>
            </a:r>
          </a:p>
        </p:txBody>
      </p:sp>
      <p:sp>
        <p:nvSpPr>
          <p:cNvPr id="43" name="P12-footer">
            <a:extLst xmlns:a="http://schemas.openxmlformats.org/drawingml/2006/main">
              <a:ext uri="{FF2B5EF4-FFF2-40B4-BE49-F238E27FC236}">
                <a16:creationId xmlns:a16="http://schemas.microsoft.com/office/drawing/2014/main" id="{6B5FD328-3570-4E56-AB33-D2319D45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1038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2024YFF1207000  临床研究病房智慧管理平台研发与应用示范</a:t>
            </a:r>
          </a:p>
        </p:txBody>
      </p:sp>
      <p:sp>
        <p:nvSpPr>
          <p:cNvPr id="44" name="P12-page">
            <a:extLst xmlns:a="http://schemas.openxmlformats.org/drawingml/2006/main">
              <a:ext uri="{FF2B5EF4-FFF2-40B4-BE49-F238E27FC236}">
                <a16:creationId xmlns:a16="http://schemas.microsoft.com/office/drawing/2014/main" id="{77CD0FB4-D71E-4706-8E5A-4374EA6A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63" name="P12-consen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10c8bf53c44a0"/>
          <a:srcRect xmlns:a="http://schemas.openxmlformats.org/drawingml/2006/main" l="0" t="6895" r="0" b="68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57350"/>
            <a:ext cx="5353050" cy="3076575"/>
          </a:xfrm>
          <a:prstGeom xmlns:a="http://schemas.openxmlformats.org/drawingml/2006/main" prst="rect">
            <a:avLst/>
          </a:prstGeom>
        </p:spPr>
      </p:pic>
      <p:sp>
        <p:nvSpPr>
          <p:cNvPr id="46" name="P12-screenshot-mobile">
            <a:extLst xmlns:a="http://schemas.openxmlformats.org/drawingml/2006/main">
              <a:ext uri="{FF2B5EF4-FFF2-40B4-BE49-F238E27FC236}">
                <a16:creationId xmlns:a16="http://schemas.microsoft.com/office/drawing/2014/main" id="{3FD5F9F7-7754-48C1-ACC6-95060DD6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2133600" cy="307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47" name="P12-screenshot-edc">
            <a:extLst xmlns:a="http://schemas.openxmlformats.org/drawingml/2006/main">
              <a:ext uri="{FF2B5EF4-FFF2-40B4-BE49-F238E27FC236}">
                <a16:creationId xmlns:a16="http://schemas.microsoft.com/office/drawing/2014/main" id="{081EBEC3-D23D-41FE-9976-071DAFCB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57350"/>
            <a:ext cx="3124200" cy="307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48" name="P12-compare-0-h">
            <a:extLst xmlns:a="http://schemas.openxmlformats.org/drawingml/2006/main">
              <a:ext uri="{FF2B5EF4-FFF2-40B4-BE49-F238E27FC236}">
                <a16:creationId xmlns:a16="http://schemas.microsoft.com/office/drawing/2014/main" id="{FE6BC75D-A887-4255-85BF-B2E9B566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3619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人工流程</a:t>
            </a:r>
          </a:p>
        </p:txBody>
      </p:sp>
      <p:sp>
        <p:nvSpPr>
          <p:cNvPr id="49" name="P12-compare-0-b">
            <a:extLst xmlns:a="http://schemas.openxmlformats.org/drawingml/2006/main">
              <a:ext uri="{FF2B5EF4-FFF2-40B4-BE49-F238E27FC236}">
                <a16:creationId xmlns:a16="http://schemas.microsoft.com/office/drawing/2014/main" id="{7BCFA88B-5143-410B-8CC5-0807AB9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3619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纸质知情 人工登记</a:t>
            </a:r>
          </a:p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生理数据手工抄录</a:t>
            </a:r>
          </a:p>
        </p:txBody>
      </p:sp>
      <p:sp>
        <p:nvSpPr>
          <p:cNvPr id="50" name="P12-compare-1-h">
            <a:extLst xmlns:a="http://schemas.openxmlformats.org/drawingml/2006/main">
              <a:ext uri="{FF2B5EF4-FFF2-40B4-BE49-F238E27FC236}">
                <a16:creationId xmlns:a16="http://schemas.microsoft.com/office/drawing/2014/main" id="{408101A9-066B-4651-869D-76AFBC26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14900"/>
            <a:ext cx="3619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平台流程</a:t>
            </a:r>
          </a:p>
        </p:txBody>
      </p:sp>
      <p:sp>
        <p:nvSpPr>
          <p:cNvPr id="51" name="P12-compare-1-b">
            <a:extLst xmlns:a="http://schemas.openxmlformats.org/drawingml/2006/main">
              <a:ext uri="{FF2B5EF4-FFF2-40B4-BE49-F238E27FC236}">
                <a16:creationId xmlns:a16="http://schemas.microsoft.com/office/drawing/2014/main" id="{EBADB28D-6B1E-4277-9744-BECD1844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86375"/>
            <a:ext cx="3619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扫码知情与ePRO</a:t>
            </a:r>
          </a:p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生理数据自动写入EDC</a:t>
            </a:r>
          </a:p>
        </p:txBody>
      </p:sp>
      <p:sp>
        <p:nvSpPr>
          <p:cNvPr id="52" name="P12-compare-2-h">
            <a:extLst xmlns:a="http://schemas.openxmlformats.org/drawingml/2006/main">
              <a:ext uri="{FF2B5EF4-FFF2-40B4-BE49-F238E27FC236}">
                <a16:creationId xmlns:a16="http://schemas.microsoft.com/office/drawing/2014/main" id="{8A35FE97-EDDB-414B-95E8-1F956FA8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619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验证重点</a:t>
            </a:r>
          </a:p>
        </p:txBody>
      </p:sp>
      <p:sp>
        <p:nvSpPr>
          <p:cNvPr id="53" name="P12-compare-2-b">
            <a:extLst xmlns:a="http://schemas.openxmlformats.org/drawingml/2006/main">
              <a:ext uri="{FF2B5EF4-FFF2-40B4-BE49-F238E27FC236}">
                <a16:creationId xmlns:a16="http://schemas.microsoft.com/office/drawing/2014/main" id="{93CF3A6C-325E-4A92-99F8-82CBF856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86375"/>
            <a:ext cx="3619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比较录入与核查工时</a:t>
            </a:r>
          </a:p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追溯设备原始记录</a:t>
            </a:r>
          </a:p>
        </p:txBody>
      </p:sp>
      <p:sp>
        <p:nvSpPr>
          <p:cNvPr id="7" name="P12-template-header">
            <a:extLst xmlns:a="http://schemas.openxmlformats.org/drawingml/2006/main">
              <a:ext uri="{FF2B5EF4-FFF2-40B4-BE49-F238E27FC236}">
                <a16:creationId xmlns:a16="http://schemas.microsoft.com/office/drawing/2014/main" id="{EBF38723-F6C4-42BE-8015-40D5A3AB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35" y="-1270"/>
            <a:ext cx="12191365" cy="740410"/>
          </a:xfrm>
          <a:prstGeom xmlns:a="http://schemas.openxmlformats.org/drawingml/2006/main" prst="round1Rect">
            <a:avLst>
              <a:gd name="adj" fmla="val 27506"/>
            </a:avLst>
          </a:prstGeom>
          <a:gradFill xmlns:a="http://schemas.openxmlformats.org/drawingml/2006/main">
            <a:gsLst>
              <a:gs pos="74000">
                <a:srgbClr val="6AAA9A">
                  <a:alpha val="46000"/>
                </a:srgbClr>
              </a:gs>
              <a:gs pos="100000">
                <a:srgbClr val="7AB39B">
                  <a:alpha val="33000"/>
                </a:srgbClr>
              </a:gs>
              <a:gs pos="47000">
                <a:srgbClr val="5AA199">
                  <a:alpha val="75000"/>
                </a:srgbClr>
              </a:gs>
              <a:gs pos="15000">
                <a:srgbClr val="398F96">
                  <a:alpha val="10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12-title">
            <a:extLst xmlns:a="http://schemas.openxmlformats.org/drawingml/2006/main">
              <a:ext uri="{FF2B5EF4-FFF2-40B4-BE49-F238E27FC236}">
                <a16:creationId xmlns:a16="http://schemas.microsoft.com/office/drawing/2014/main" id="{0F61A04C-4A18-4554-8433-48EDBD9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7" y="77438"/>
            <a:ext cx="8877300" cy="583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场景2 招募知情与多模态采集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6" name="P12-template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596aff9be4c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3390" y="148590"/>
            <a:ext cx="2664460" cy="4578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6607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3" name="P13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f290457934f3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0" name="P13-subtitle">
            <a:extLst xmlns:a="http://schemas.openxmlformats.org/drawingml/2006/main">
              <a:ext uri="{FF2B5EF4-FFF2-40B4-BE49-F238E27FC236}">
                <a16:creationId xmlns:a16="http://schemas.microsoft.com/office/drawing/2014/main" id="{AA1D9C5B-BAA1-4376-95AB-45BD2888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点位1 5 6 智慧大屏 CRA监查位 机构主任办公室</a:t>
            </a:r>
          </a:p>
        </p:txBody>
      </p:sp>
      <p:sp>
        <p:nvSpPr>
          <p:cNvPr id="41" name="P13-conclusion-band">
            <a:extLst xmlns:a="http://schemas.openxmlformats.org/drawingml/2006/main">
              <a:ext uri="{FF2B5EF4-FFF2-40B4-BE49-F238E27FC236}">
                <a16:creationId xmlns:a16="http://schemas.microsoft.com/office/drawing/2014/main" id="{10964C29-3778-4C53-A27D-58C972CA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91225"/>
            <a:ext cx="112776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0">
            <a:noFill/>
          </a:ln>
        </p:spPr>
      </p:sp>
      <p:sp>
        <p:nvSpPr>
          <p:cNvPr id="42" name="P13-conclusion">
            <a:extLst xmlns:a="http://schemas.openxmlformats.org/drawingml/2006/main">
              <a:ext uri="{FF2B5EF4-FFF2-40B4-BE49-F238E27FC236}">
                <a16:creationId xmlns:a16="http://schemas.microsoft.com/office/drawing/2014/main" id="{E2BFDBE6-55F1-4417-ACB3-BC9D6308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67425"/>
            <a:ext cx="10896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管理者集中查看全院研究进展 监查方按权限远程开展源数据核查</a:t>
            </a:r>
          </a:p>
        </p:txBody>
      </p:sp>
      <p:sp>
        <p:nvSpPr>
          <p:cNvPr id="43" name="P13-footer">
            <a:extLst xmlns:a="http://schemas.openxmlformats.org/drawingml/2006/main">
              <a:ext uri="{FF2B5EF4-FFF2-40B4-BE49-F238E27FC236}">
                <a16:creationId xmlns:a16="http://schemas.microsoft.com/office/drawing/2014/main" id="{AC037C18-4FF2-49B4-A8FB-6AA1F40C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1038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2024YFF1207000  临床研究病房智慧管理平台研发与应用示范</a:t>
            </a:r>
          </a:p>
        </p:txBody>
      </p:sp>
      <p:sp>
        <p:nvSpPr>
          <p:cNvPr id="44" name="P13-page">
            <a:extLst xmlns:a="http://schemas.openxmlformats.org/drawingml/2006/main">
              <a:ext uri="{FF2B5EF4-FFF2-40B4-BE49-F238E27FC236}">
                <a16:creationId xmlns:a16="http://schemas.microsoft.com/office/drawing/2014/main" id="{B39582E5-6AE6-479A-B638-C923794A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5" name="P13-screenshot-dashboard">
            <a:extLst xmlns:a="http://schemas.openxmlformats.org/drawingml/2006/main">
              <a:ext uri="{FF2B5EF4-FFF2-40B4-BE49-F238E27FC236}">
                <a16:creationId xmlns:a16="http://schemas.microsoft.com/office/drawing/2014/main" id="{4CEC4D71-6EC2-4A30-BED5-BF134F0E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776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46" name="P13-director-h">
            <a:extLst xmlns:a="http://schemas.openxmlformats.org/drawingml/2006/main">
              <a:ext uri="{FF2B5EF4-FFF2-40B4-BE49-F238E27FC236}">
                <a16:creationId xmlns:a16="http://schemas.microsoft.com/office/drawing/2014/main" id="{02C7FB73-3328-48FE-8E06-0EC051AC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148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机构管理视角</a:t>
            </a:r>
          </a:p>
        </p:txBody>
      </p:sp>
      <p:sp>
        <p:nvSpPr>
          <p:cNvPr id="47" name="P13-director-b">
            <a:extLst xmlns:a="http://schemas.openxmlformats.org/drawingml/2006/main">
              <a:ext uri="{FF2B5EF4-FFF2-40B4-BE49-F238E27FC236}">
                <a16:creationId xmlns:a16="http://schemas.microsoft.com/office/drawing/2014/main" id="{EABC6B21-7962-44CA-A4D3-7433C658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720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在研项目 入组进度 AE预警</a:t>
            </a:r>
          </a:p>
          <a:p xmlns:a="http://schemas.openxmlformats.org/drawingml/2006/main">
            <a:pPr algn="l">
              <a:defRPr sz="17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逾期随访与科室研究进展</a:t>
            </a:r>
          </a:p>
        </p:txBody>
      </p:sp>
      <p:sp>
        <p:nvSpPr>
          <p:cNvPr id="48" name="P13-cra-h">
            <a:extLst xmlns:a="http://schemas.openxmlformats.org/drawingml/2006/main">
              <a:ext uri="{FF2B5EF4-FFF2-40B4-BE49-F238E27FC236}">
                <a16:creationId xmlns:a16="http://schemas.microsoft.com/office/drawing/2014/main" id="{0ACDE98D-71D9-4767-A48C-65788907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CRA监查视角</a:t>
            </a:r>
          </a:p>
        </p:txBody>
      </p:sp>
      <p:sp>
        <p:nvSpPr>
          <p:cNvPr id="49" name="P13-cra-b">
            <a:extLst xmlns:a="http://schemas.openxmlformats.org/drawingml/2006/main">
              <a:ext uri="{FF2B5EF4-FFF2-40B4-BE49-F238E27FC236}">
                <a16:creationId xmlns:a16="http://schemas.microsoft.com/office/drawing/2014/main" id="{F7A1E956-47EA-4558-9820-3254FE1A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72075"/>
            <a:ext cx="5162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远程调阅院内原始数据</a:t>
            </a:r>
          </a:p>
          <a:p xmlns:a="http://schemas.openxmlformats.org/drawingml/2006/main">
            <a:pPr algn="l">
              <a:defRPr sz="17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源数据核查与疑问项生成</a:t>
            </a:r>
          </a:p>
        </p:txBody>
      </p:sp>
      <p:sp>
        <p:nvSpPr>
          <p:cNvPr id="7" name="P13-template-header">
            <a:extLst xmlns:a="http://schemas.openxmlformats.org/drawingml/2006/main">
              <a:ext uri="{FF2B5EF4-FFF2-40B4-BE49-F238E27FC236}">
                <a16:creationId xmlns:a16="http://schemas.microsoft.com/office/drawing/2014/main" id="{EBF38723-F6C4-42BE-8015-40D5A3AB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35" y="-1270"/>
            <a:ext cx="12191365" cy="740410"/>
          </a:xfrm>
          <a:prstGeom xmlns:a="http://schemas.openxmlformats.org/drawingml/2006/main" prst="round1Rect">
            <a:avLst>
              <a:gd name="adj" fmla="val 27506"/>
            </a:avLst>
          </a:prstGeom>
          <a:gradFill xmlns:a="http://schemas.openxmlformats.org/drawingml/2006/main">
            <a:gsLst>
              <a:gs pos="74000">
                <a:srgbClr val="6AAA9A">
                  <a:alpha val="46000"/>
                </a:srgbClr>
              </a:gs>
              <a:gs pos="100000">
                <a:srgbClr val="7AB39B">
                  <a:alpha val="33000"/>
                </a:srgbClr>
              </a:gs>
              <a:gs pos="47000">
                <a:srgbClr val="5AA199">
                  <a:alpha val="75000"/>
                </a:srgbClr>
              </a:gs>
              <a:gs pos="15000">
                <a:srgbClr val="398F96">
                  <a:alpha val="10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13-title">
            <a:extLst xmlns:a="http://schemas.openxmlformats.org/drawingml/2006/main">
              <a:ext uri="{FF2B5EF4-FFF2-40B4-BE49-F238E27FC236}">
                <a16:creationId xmlns:a16="http://schemas.microsoft.com/office/drawing/2014/main" id="{0F61A04C-4A18-4554-8433-48EDBD9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7" y="77438"/>
            <a:ext cx="8877300" cy="583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场景3 机构总览与远程监查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2" name="P13-template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2ea3f52b444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3390" y="148590"/>
            <a:ext cx="2664460" cy="4578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6607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8" name="P14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a99004a68446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0" name="P14-subtitle">
            <a:extLst xmlns:a="http://schemas.openxmlformats.org/drawingml/2006/main">
              <a:ext uri="{FF2B5EF4-FFF2-40B4-BE49-F238E27FC236}">
                <a16:creationId xmlns:a16="http://schemas.microsoft.com/office/drawing/2014/main" id="{D6B57F8A-0328-44C3-87CD-85D67CFD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面向医院既有信息系统 验证平台集成与多模态应用路径</a:t>
            </a:r>
          </a:p>
        </p:txBody>
      </p:sp>
      <p:sp>
        <p:nvSpPr>
          <p:cNvPr id="41" name="P14-conclusion-band">
            <a:extLst xmlns:a="http://schemas.openxmlformats.org/drawingml/2006/main">
              <a:ext uri="{FF2B5EF4-FFF2-40B4-BE49-F238E27FC236}">
                <a16:creationId xmlns:a16="http://schemas.microsoft.com/office/drawing/2014/main" id="{A53659DB-D73C-4DEE-8436-C8A40D82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91225"/>
            <a:ext cx="112776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0">
            <a:noFill/>
          </a:ln>
        </p:spPr>
      </p:sp>
      <p:sp>
        <p:nvSpPr>
          <p:cNvPr id="42" name="P14-conclusion">
            <a:extLst xmlns:a="http://schemas.openxmlformats.org/drawingml/2006/main">
              <a:ext uri="{FF2B5EF4-FFF2-40B4-BE49-F238E27FC236}">
                <a16:creationId xmlns:a16="http://schemas.microsoft.com/office/drawing/2014/main" id="{7011AF2A-C165-406B-AF75-0C5ADEB4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67425"/>
            <a:ext cx="10896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通过友谊示范形成存量系统整合与多模态数据应用的推广依据</a:t>
            </a:r>
          </a:p>
        </p:txBody>
      </p:sp>
      <p:sp>
        <p:nvSpPr>
          <p:cNvPr id="43" name="P14-footer">
            <a:extLst xmlns:a="http://schemas.openxmlformats.org/drawingml/2006/main">
              <a:ext uri="{FF2B5EF4-FFF2-40B4-BE49-F238E27FC236}">
                <a16:creationId xmlns:a16="http://schemas.microsoft.com/office/drawing/2014/main" id="{D7804FD3-0216-4659-9680-F1F3330F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1038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2024YFF1207000  临床研究病房智慧管理平台研发与应用示范</a:t>
            </a:r>
          </a:p>
        </p:txBody>
      </p:sp>
      <p:sp>
        <p:nvSpPr>
          <p:cNvPr id="44" name="P14-page">
            <a:extLst xmlns:a="http://schemas.openxmlformats.org/drawingml/2006/main">
              <a:ext uri="{FF2B5EF4-FFF2-40B4-BE49-F238E27FC236}">
                <a16:creationId xmlns:a16="http://schemas.microsoft.com/office/drawing/2014/main" id="{77557FE4-BC6E-4079-92BE-1F6B3E29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5" name="P14-integration-h">
            <a:extLst xmlns:a="http://schemas.openxmlformats.org/drawingml/2006/main">
              <a:ext uri="{FF2B5EF4-FFF2-40B4-BE49-F238E27FC236}">
                <a16:creationId xmlns:a16="http://schemas.microsoft.com/office/drawing/2014/main" id="{4075331B-28B4-4E49-96A8-6D08FBEE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27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存量系统整合</a:t>
            </a:r>
          </a:p>
        </p:txBody>
      </p:sp>
      <p:sp>
        <p:nvSpPr>
          <p:cNvPr id="46" name="P14-physio-h">
            <a:extLst xmlns:a="http://schemas.openxmlformats.org/drawingml/2006/main">
              <a:ext uri="{FF2B5EF4-FFF2-40B4-BE49-F238E27FC236}">
                <a16:creationId xmlns:a16="http://schemas.microsoft.com/office/drawing/2014/main" id="{1537D906-D86C-416F-9BF5-3FBD7BEF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57350"/>
            <a:ext cx="512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多模态生理数据</a:t>
            </a:r>
          </a:p>
        </p:txBody>
      </p:sp>
      <p:sp>
        <p:nvSpPr>
          <p:cNvPr id="47" name="P14-int-node-0">
            <a:extLst xmlns:a="http://schemas.openxmlformats.org/drawingml/2006/main">
              <a:ext uri="{FF2B5EF4-FFF2-40B4-BE49-F238E27FC236}">
                <a16:creationId xmlns:a16="http://schemas.microsoft.com/office/drawing/2014/main" id="{0813FA42-6B80-4065-AD5F-D36D0A51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48768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48" name="P14-int-text-0">
            <a:extLst xmlns:a="http://schemas.openxmlformats.org/drawingml/2006/main">
              <a:ext uri="{FF2B5EF4-FFF2-40B4-BE49-F238E27FC236}">
                <a16:creationId xmlns:a16="http://schemas.microsoft.com/office/drawing/2014/main" id="{F7DD69FD-FC92-4751-AFA2-BAD9C13E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66975"/>
            <a:ext cx="4591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院内HIS / EMR等现有系统</a:t>
            </a:r>
          </a:p>
        </p:txBody>
      </p:sp>
      <p:sp>
        <p:nvSpPr>
          <p:cNvPr id="49" name="P14-int-node-1">
            <a:extLst xmlns:a="http://schemas.openxmlformats.org/drawingml/2006/main">
              <a:ext uri="{FF2B5EF4-FFF2-40B4-BE49-F238E27FC236}">
                <a16:creationId xmlns:a16="http://schemas.microsoft.com/office/drawing/2014/main" id="{3A36B9DC-B183-4E96-A4C1-F492286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8768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347F84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50" name="P14-int-text-1">
            <a:extLst xmlns:a="http://schemas.openxmlformats.org/drawingml/2006/main">
              <a:ext uri="{FF2B5EF4-FFF2-40B4-BE49-F238E27FC236}">
                <a16:creationId xmlns:a16="http://schemas.microsoft.com/office/drawing/2014/main" id="{D2E559E7-7AB6-4A1E-B214-E8EF5279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86125"/>
            <a:ext cx="4591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接口与主索引</a:t>
            </a:r>
          </a:p>
        </p:txBody>
      </p:sp>
      <p:cxnSp>
        <p:nvCxnSpPr>
          <p:cNvPr id="90" name="P14-int-link-1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3105150" y="294322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sp>
        <p:nvSpPr>
          <p:cNvPr id="51" name="P14-int-node-2">
            <a:extLst xmlns:a="http://schemas.openxmlformats.org/drawingml/2006/main">
              <a:ext uri="{FF2B5EF4-FFF2-40B4-BE49-F238E27FC236}">
                <a16:creationId xmlns:a16="http://schemas.microsoft.com/office/drawing/2014/main" id="{5C89E9BF-7DBF-4081-BD79-2FC50FF1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48768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52" name="P14-int-text-2">
            <a:extLst xmlns:a="http://schemas.openxmlformats.org/drawingml/2006/main">
              <a:ext uri="{FF2B5EF4-FFF2-40B4-BE49-F238E27FC236}">
                <a16:creationId xmlns:a16="http://schemas.microsoft.com/office/drawing/2014/main" id="{C191CBD3-4476-4FFA-BEE6-745B046D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05275"/>
            <a:ext cx="4591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临床研究智慧管理平台</a:t>
            </a:r>
          </a:p>
        </p:txBody>
      </p:sp>
      <p:cxnSp>
        <p:nvCxnSpPr>
          <p:cNvPr id="91" name="P14-int-link-2"/>
          <p:cNvCxnSpPr>
            <a:stCxn xmlns:a="http://schemas.openxmlformats.org/drawingml/2006/main" id="49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3105150" y="376237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sp>
        <p:nvSpPr>
          <p:cNvPr id="53" name="P14-data-node-0">
            <a:extLst xmlns:a="http://schemas.openxmlformats.org/drawingml/2006/main">
              <a:ext uri="{FF2B5EF4-FFF2-40B4-BE49-F238E27FC236}">
                <a16:creationId xmlns:a16="http://schemas.microsoft.com/office/drawing/2014/main" id="{E7C02750-7D02-4108-A4A2-CB3E7F4B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47053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54" name="P14-data-text-0">
            <a:extLst xmlns:a="http://schemas.openxmlformats.org/drawingml/2006/main">
              <a:ext uri="{FF2B5EF4-FFF2-40B4-BE49-F238E27FC236}">
                <a16:creationId xmlns:a16="http://schemas.microsoft.com/office/drawing/2014/main" id="{ED4C295A-305B-40D0-AD89-3887E208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66975"/>
            <a:ext cx="441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床旁设备 心率 呼吸 血氧</a:t>
            </a:r>
          </a:p>
        </p:txBody>
      </p:sp>
      <p:sp>
        <p:nvSpPr>
          <p:cNvPr id="55" name="P14-data-node-1">
            <a:extLst xmlns:a="http://schemas.openxmlformats.org/drawingml/2006/main">
              <a:ext uri="{FF2B5EF4-FFF2-40B4-BE49-F238E27FC236}">
                <a16:creationId xmlns:a16="http://schemas.microsoft.com/office/drawing/2014/main" id="{B4A0EF13-C60F-40CD-8420-75D08AFC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43250"/>
            <a:ext cx="47053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347F84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56" name="P14-data-text-1">
            <a:extLst xmlns:a="http://schemas.openxmlformats.org/drawingml/2006/main">
              <a:ext uri="{FF2B5EF4-FFF2-40B4-BE49-F238E27FC236}">
                <a16:creationId xmlns:a16="http://schemas.microsoft.com/office/drawing/2014/main" id="{B2CC4880-ADF8-4A21-90F9-9BFDB46B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86125"/>
            <a:ext cx="441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接口与平台数据接入</a:t>
            </a:r>
          </a:p>
        </p:txBody>
      </p:sp>
      <p:cxnSp>
        <p:nvCxnSpPr>
          <p:cNvPr id="92" name="P14-data-link-1"/>
          <p:cNvCxnSpPr>
            <a:stCxn xmlns:a="http://schemas.openxmlformats.org/drawingml/2006/main" id="53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9172575" y="294322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sp>
        <p:nvSpPr>
          <p:cNvPr id="57" name="P14-data-node-2">
            <a:extLst xmlns:a="http://schemas.openxmlformats.org/drawingml/2006/main">
              <a:ext uri="{FF2B5EF4-FFF2-40B4-BE49-F238E27FC236}">
                <a16:creationId xmlns:a16="http://schemas.microsoft.com/office/drawing/2014/main" id="{469484C0-8F4E-4C02-AF0C-2C037C51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62400"/>
            <a:ext cx="47053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9525">
            <a:solidFill>
              <a:srgbClr val="CBE2DA"/>
            </a:solidFill>
          </a:ln>
        </p:spPr>
      </p:sp>
      <p:sp>
        <p:nvSpPr>
          <p:cNvPr id="58" name="P14-data-text-2">
            <a:extLst xmlns:a="http://schemas.openxmlformats.org/drawingml/2006/main">
              <a:ext uri="{FF2B5EF4-FFF2-40B4-BE49-F238E27FC236}">
                <a16:creationId xmlns:a16="http://schemas.microsoft.com/office/drawing/2014/main" id="{36C42F6D-F230-424A-AF72-24E9B8B0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05275"/>
            <a:ext cx="441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EDC回填 / AE预警应用</a:t>
            </a:r>
          </a:p>
        </p:txBody>
      </p:sp>
      <p:cxnSp>
        <p:nvCxnSpPr>
          <p:cNvPr id="93" name="P14-data-link-2"/>
          <p:cNvCxnSpPr>
            <a:stCxn xmlns:a="http://schemas.openxmlformats.org/drawingml/2006/main" id="55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9172575" y="376237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7F84"/>
            </a:solidFill>
            <a:tailEnd type="triangle" w="sm" len="sm"/>
          </a:ln>
        </p:spPr>
      </p:cxnSp>
      <p:sp>
        <p:nvSpPr>
          <p:cNvPr id="59" name="P14-integration-b">
            <a:extLst xmlns:a="http://schemas.openxmlformats.org/drawingml/2006/main">
              <a:ext uri="{FF2B5EF4-FFF2-40B4-BE49-F238E27FC236}">
                <a16:creationId xmlns:a16="http://schemas.microsoft.com/office/drawing/2014/main" id="{7AAB0950-BC0D-44DC-9241-66D45438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5276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通过接口层接入 保留院内现有系统</a:t>
            </a:r>
          </a:p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主索引支撑门诊 住院 检验数据延伸对接</a:t>
            </a:r>
          </a:p>
        </p:txBody>
      </p:sp>
      <p:sp>
        <p:nvSpPr>
          <p:cNvPr id="60" name="P14-physio-b">
            <a:extLst xmlns:a="http://schemas.openxmlformats.org/drawingml/2006/main">
              <a:ext uri="{FF2B5EF4-FFF2-40B4-BE49-F238E27FC236}">
                <a16:creationId xmlns:a16="http://schemas.microsoft.com/office/drawing/2014/main" id="{91369A1E-BAE2-4395-8D8F-71EE58A8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72050"/>
            <a:ext cx="5124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现已接入心率 呼吸 血氧3项数据</a:t>
            </a:r>
          </a:p>
          <a:p xmlns:a="http://schemas.openxmlformats.org/drawingml/2006/main">
            <a:pPr algn="l">
              <a:def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可拓展其他模态并与课题二设备并行验证</a:t>
            </a:r>
          </a:p>
        </p:txBody>
      </p:sp>
      <p:sp>
        <p:nvSpPr>
          <p:cNvPr id="7" name="P14-template-header">
            <a:extLst xmlns:a="http://schemas.openxmlformats.org/drawingml/2006/main">
              <a:ext uri="{FF2B5EF4-FFF2-40B4-BE49-F238E27FC236}">
                <a16:creationId xmlns:a16="http://schemas.microsoft.com/office/drawing/2014/main" id="{EBF38723-F6C4-42BE-8015-40D5A3AB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35" y="-1270"/>
            <a:ext cx="12191365" cy="740410"/>
          </a:xfrm>
          <a:prstGeom xmlns:a="http://schemas.openxmlformats.org/drawingml/2006/main" prst="round1Rect">
            <a:avLst>
              <a:gd name="adj" fmla="val 27506"/>
            </a:avLst>
          </a:prstGeom>
          <a:gradFill xmlns:a="http://schemas.openxmlformats.org/drawingml/2006/main">
            <a:gsLst>
              <a:gs pos="74000">
                <a:srgbClr val="6AAA9A">
                  <a:alpha val="46000"/>
                </a:srgbClr>
              </a:gs>
              <a:gs pos="100000">
                <a:srgbClr val="7AB39B">
                  <a:alpha val="33000"/>
                </a:srgbClr>
              </a:gs>
              <a:gs pos="47000">
                <a:srgbClr val="5AA199">
                  <a:alpha val="75000"/>
                </a:srgbClr>
              </a:gs>
              <a:gs pos="15000">
                <a:srgbClr val="398F96">
                  <a:alpha val="10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14-title">
            <a:extLst xmlns:a="http://schemas.openxmlformats.org/drawingml/2006/main">
              <a:ext uri="{FF2B5EF4-FFF2-40B4-BE49-F238E27FC236}">
                <a16:creationId xmlns:a16="http://schemas.microsoft.com/office/drawing/2014/main" id="{0F61A04C-4A18-4554-8433-48EDBD9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7" y="77438"/>
            <a:ext cx="8877300" cy="583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友谊示范特色 存量整合与多模态数据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7" name="P14-template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f5f83d89c43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3390" y="148590"/>
            <a:ext cx="2664460" cy="4578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660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P15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e863b62374dc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0" name="P15-subtitle">
            <a:extLst xmlns:a="http://schemas.openxmlformats.org/drawingml/2006/main">
              <a:ext uri="{FF2B5EF4-FFF2-40B4-BE49-F238E27FC236}">
                <a16:creationId xmlns:a16="http://schemas.microsoft.com/office/drawing/2014/main" id="{B6FEB26A-EBF6-4EFA-A594-E9D9CAE5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建议推进安排 各项时点与考核口径以项目组确认为准</a:t>
            </a:r>
          </a:p>
        </p:txBody>
      </p:sp>
      <p:sp>
        <p:nvSpPr>
          <p:cNvPr id="41" name="P15-conclusion-band">
            <a:extLst xmlns:a="http://schemas.openxmlformats.org/drawingml/2006/main">
              <a:ext uri="{FF2B5EF4-FFF2-40B4-BE49-F238E27FC236}">
                <a16:creationId xmlns:a16="http://schemas.microsoft.com/office/drawing/2014/main" id="{9EBA4408-58F1-441B-B1C4-E7EB5762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91225"/>
            <a:ext cx="112776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0">
            <a:noFill/>
          </a:ln>
        </p:spPr>
      </p:sp>
      <p:sp>
        <p:nvSpPr>
          <p:cNvPr id="42" name="P15-conclusion">
            <a:extLst xmlns:a="http://schemas.openxmlformats.org/drawingml/2006/main">
              <a:ext uri="{FF2B5EF4-FFF2-40B4-BE49-F238E27FC236}">
                <a16:creationId xmlns:a16="http://schemas.microsoft.com/office/drawing/2014/main" id="{B4386C98-418C-4A85-BA1E-23C1F005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67425"/>
            <a:ext cx="10896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示范医院 上线项目 受试者与效率指标均按任务书口径采集 并在12月前形成数据</a:t>
            </a:r>
          </a:p>
        </p:txBody>
      </p:sp>
      <p:sp>
        <p:nvSpPr>
          <p:cNvPr id="43" name="P15-footer">
            <a:extLst xmlns:a="http://schemas.openxmlformats.org/drawingml/2006/main">
              <a:ext uri="{FF2B5EF4-FFF2-40B4-BE49-F238E27FC236}">
                <a16:creationId xmlns:a16="http://schemas.microsoft.com/office/drawing/2014/main" id="{D7686B3D-8982-4134-85CB-47B2E324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1038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2024YFF1207000  临床研究病房智慧管理平台研发与应用示范</a:t>
            </a:r>
          </a:p>
        </p:txBody>
      </p:sp>
      <p:sp>
        <p:nvSpPr>
          <p:cNvPr id="44" name="P15-page">
            <a:extLst xmlns:a="http://schemas.openxmlformats.org/drawingml/2006/main">
              <a:ext uri="{FF2B5EF4-FFF2-40B4-BE49-F238E27FC236}">
                <a16:creationId xmlns:a16="http://schemas.microsoft.com/office/drawing/2014/main" id="{B933339E-EB8D-4DF6-940C-C1C39640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55" name="P15-gantt"/>
          <p:cNvGraphicFramePr/>
          <p:nvPr/>
        </p:nvGraphicFramePr>
        <p:xfrm>
          <a:off xmlns:a="http://schemas.openxmlformats.org/drawingml/2006/main" x="457200" y="1695450"/>
          <a:ext xmlns:a="http://schemas.openxmlformats.org/drawingml/2006/main" cx="11277600" cy="418147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3048000"/>
                <a:gridCol w="733425"/>
                <a:gridCol w="733425"/>
                <a:gridCol w="733425"/>
                <a:gridCol w="609600"/>
                <a:gridCol w="609600"/>
                <a:gridCol w="609600"/>
                <a:gridCol w="2457450"/>
                <a:gridCol w="1743075"/>
              </a:tblGrid>
              <a:tr h="457200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任务与责任方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2C7175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2C7175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2C7175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12月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2C7175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1月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2C7175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2月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2C7175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3月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2C7175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交付物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2C7175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考核方式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2C7175"/>
                    </a:solidFill>
                  </a:tcPr>
                </a:tc>
              </a:tr>
              <a:tr h="390525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友谊 院内决策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15日前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347F84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会议纪要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项目组确认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0525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友谊 主索引 算力与延伸对接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月底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347F84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联调记录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技术测试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</a:tr>
              <a:tr h="495300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友谊 首批项目与历史验证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上旬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347F84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项目清单</a:t>
                      </a:r>
                    </a:p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对比报告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数据核查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友谊 示范彩排与验收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中旬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347F84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应用证明</a:t>
                      </a:r>
                    </a:p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影像 签到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现场评审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</a:tr>
              <a:tr h="390525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长庚 真实项目上线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347F84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上线清单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数据核查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0525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长庚 现场示范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应用证明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现场评审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</a:tr>
              <a:tr h="390525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三院 示范报告与效率数据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347F84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示范报告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项目组评审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0525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三院 第三方测评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测评报告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第三方机构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EEF6F2"/>
                    </a:solidFill>
                  </a:tcPr>
                </a:tc>
              </a:tr>
              <a:tr h="390525"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 整体验收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347F84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验收材料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38100" rIns="95250" bIns="3810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2F41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专家组</a:t>
                      </a:r>
                    </a:p>
                  </a:txBody>
                  <a:tcPr marL="95250" marR="95250" marT="38100" marB="38100" anchor="ctr">
                    <a:lnL w="5715">
                      <a:solidFill>
                        <a:srgbClr val="CBE2DA"/>
                      </a:solidFill>
                      <a:prstDash val="solid"/>
                    </a:lnL>
                    <a:lnR w="5715">
                      <a:solidFill>
                        <a:srgbClr val="CBE2DA"/>
                      </a:solidFill>
                      <a:prstDash val="solid"/>
                    </a:lnR>
                    <a:lnT w="5715">
                      <a:solidFill>
                        <a:srgbClr val="CBE2DA"/>
                      </a:solidFill>
                      <a:prstDash val="solid"/>
                    </a:lnT>
                    <a:lnB w="5715">
                      <a:solidFill>
                        <a:srgbClr val="CB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15-template-header">
            <a:extLst xmlns:a="http://schemas.openxmlformats.org/drawingml/2006/main">
              <a:ext uri="{FF2B5EF4-FFF2-40B4-BE49-F238E27FC236}">
                <a16:creationId xmlns:a16="http://schemas.microsoft.com/office/drawing/2014/main" id="{EBF38723-F6C4-42BE-8015-40D5A3AB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35" y="-1270"/>
            <a:ext cx="12191365" cy="740410"/>
          </a:xfrm>
          <a:prstGeom xmlns:a="http://schemas.openxmlformats.org/drawingml/2006/main" prst="round1Rect">
            <a:avLst>
              <a:gd name="adj" fmla="val 27506"/>
            </a:avLst>
          </a:prstGeom>
          <a:gradFill xmlns:a="http://schemas.openxmlformats.org/drawingml/2006/main">
            <a:gsLst>
              <a:gs pos="74000">
                <a:srgbClr val="6AAA9A">
                  <a:alpha val="46000"/>
                </a:srgbClr>
              </a:gs>
              <a:gs pos="100000">
                <a:srgbClr val="7AB39B">
                  <a:alpha val="33000"/>
                </a:srgbClr>
              </a:gs>
              <a:gs pos="47000">
                <a:srgbClr val="5AA199">
                  <a:alpha val="75000"/>
                </a:srgbClr>
              </a:gs>
              <a:gs pos="15000">
                <a:srgbClr val="398F96">
                  <a:alpha val="10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15-title">
            <a:extLst xmlns:a="http://schemas.openxmlformats.org/drawingml/2006/main">
              <a:ext uri="{FF2B5EF4-FFF2-40B4-BE49-F238E27FC236}">
                <a16:creationId xmlns:a16="http://schemas.microsoft.com/office/drawing/2014/main" id="{0F61A04C-4A18-4554-8433-48EDBD9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7" y="77438"/>
            <a:ext cx="8877300" cy="583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第四季度至2027年一季度推进计划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15-template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c91f510684a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3390" y="148590"/>
            <a:ext cx="2664460" cy="4578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6607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P16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9f70bd89442d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0" name="P16-subtitle">
            <a:extLst xmlns:a="http://schemas.openxmlformats.org/drawingml/2006/main">
              <a:ext uri="{FF2B5EF4-FFF2-40B4-BE49-F238E27FC236}">
                <a16:creationId xmlns:a16="http://schemas.microsoft.com/office/drawing/2014/main" id="{F5EC78A7-642F-4236-8F3B-922BDC49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共同明确资源 责任与时限 推进示范落地</a:t>
            </a:r>
          </a:p>
        </p:txBody>
      </p:sp>
      <p:sp>
        <p:nvSpPr>
          <p:cNvPr id="41" name="P16-conclusion-band">
            <a:extLst xmlns:a="http://schemas.openxmlformats.org/drawingml/2006/main">
              <a:ext uri="{FF2B5EF4-FFF2-40B4-BE49-F238E27FC236}">
                <a16:creationId xmlns:a16="http://schemas.microsoft.com/office/drawing/2014/main" id="{A8B6D0C4-B345-44FB-B3B9-EDD2F275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91225"/>
            <a:ext cx="112776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2C7175"/>
          </a:solidFill>
          <a:ln xmlns:a="http://schemas.openxmlformats.org/drawingml/2006/main" w="0">
            <a:noFill/>
          </a:ln>
        </p:spPr>
      </p:sp>
      <p:sp>
        <p:nvSpPr>
          <p:cNvPr id="42" name="P16-conclusion">
            <a:extLst xmlns:a="http://schemas.openxmlformats.org/drawingml/2006/main">
              <a:ext uri="{FF2B5EF4-FFF2-40B4-BE49-F238E27FC236}">
                <a16:creationId xmlns:a16="http://schemas.microsoft.com/office/drawing/2014/main" id="{934F767D-FF9F-4E35-BB29-AAAA32F4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67425"/>
            <a:ext cx="10896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两院协同完成示范建设 共同支撑项目整体验收</a:t>
            </a:r>
          </a:p>
        </p:txBody>
      </p:sp>
      <p:sp>
        <p:nvSpPr>
          <p:cNvPr id="43" name="P16-footer">
            <a:extLst xmlns:a="http://schemas.openxmlformats.org/drawingml/2006/main">
              <a:ext uri="{FF2B5EF4-FFF2-40B4-BE49-F238E27FC236}">
                <a16:creationId xmlns:a16="http://schemas.microsoft.com/office/drawing/2014/main" id="{53E9D09D-061C-4270-9565-F42F3D52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1038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2024YFF1207000  临床研究病房智慧管理平台研发与应用示范</a:t>
            </a:r>
          </a:p>
        </p:txBody>
      </p:sp>
      <p:sp>
        <p:nvSpPr>
          <p:cNvPr id="44" name="P16-page">
            <a:extLst xmlns:a="http://schemas.openxmlformats.org/drawingml/2006/main">
              <a:ext uri="{FF2B5EF4-FFF2-40B4-BE49-F238E27FC236}">
                <a16:creationId xmlns:a16="http://schemas.microsoft.com/office/drawing/2014/main" id="{31580BA0-A33C-47D3-BEAF-191163F7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2686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5" name="P16-youyi-title">
            <a:extLst xmlns:a="http://schemas.openxmlformats.org/drawingml/2006/main">
              <a:ext uri="{FF2B5EF4-FFF2-40B4-BE49-F238E27FC236}">
                <a16:creationId xmlns:a16="http://schemas.microsoft.com/office/drawing/2014/main" id="{DBEE532F-6FBA-49F8-9CE2-7E37DBBF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85925"/>
            <a:ext cx="5162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请友谊医院协调</a:t>
            </a:r>
          </a:p>
        </p:txBody>
      </p:sp>
      <p:sp>
        <p:nvSpPr>
          <p:cNvPr id="46" name="P16-cg-title">
            <a:extLst xmlns:a="http://schemas.openxmlformats.org/drawingml/2006/main">
              <a:ext uri="{FF2B5EF4-FFF2-40B4-BE49-F238E27FC236}">
                <a16:creationId xmlns:a16="http://schemas.microsoft.com/office/drawing/2014/main" id="{08F2BD78-DE86-47B1-9889-73BAE716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5162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长庚支持安排</a:t>
            </a:r>
          </a:p>
        </p:txBody>
      </p:sp>
      <p:sp>
        <p:nvSpPr>
          <p:cNvPr id="47" name="P16-central-rule">
            <a:extLst xmlns:a="http://schemas.openxmlformats.org/drawingml/2006/main">
              <a:ext uri="{FF2B5EF4-FFF2-40B4-BE49-F238E27FC236}">
                <a16:creationId xmlns:a16="http://schemas.microsoft.com/office/drawing/2014/main" id="{CFFC4077-25B7-40FC-8992-E8E3B6DE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9525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2DA"/>
          </a:solidFill>
          <a:ln xmlns:a="http://schemas.openxmlformats.org/drawingml/2006/main" w="0">
            <a:noFill/>
          </a:ln>
        </p:spPr>
      </p:sp>
      <p:sp>
        <p:nvSpPr>
          <p:cNvPr id="48" name="P16-l-0-n">
            <a:extLst xmlns:a="http://schemas.openxmlformats.org/drawingml/2006/main">
              <a:ext uri="{FF2B5EF4-FFF2-40B4-BE49-F238E27FC236}">
                <a16:creationId xmlns:a16="http://schemas.microsoft.com/office/drawing/2014/main" id="{1D5B1ED8-8B51-415C-8D95-E172F491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9" name="P16-l-0-h">
            <a:extLst xmlns:a="http://schemas.openxmlformats.org/drawingml/2006/main">
              <a:ext uri="{FF2B5EF4-FFF2-40B4-BE49-F238E27FC236}">
                <a16:creationId xmlns:a16="http://schemas.microsoft.com/office/drawing/2014/main" id="{6EF89471-F914-416D-9D1A-7CE27A3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333625"/>
            <a:ext cx="4505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接口对接排期与算力</a:t>
            </a:r>
          </a:p>
        </p:txBody>
      </p:sp>
      <p:sp>
        <p:nvSpPr>
          <p:cNvPr id="50" name="P16-l-0-b">
            <a:extLst xmlns:a="http://schemas.openxmlformats.org/drawingml/2006/main">
              <a:ext uri="{FF2B5EF4-FFF2-40B4-BE49-F238E27FC236}">
                <a16:creationId xmlns:a16="http://schemas.microsoft.com/office/drawing/2014/main" id="{3A1EF539-253E-4126-AB7A-700BBA84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14625"/>
            <a:ext cx="450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信息科协调接口资源与算力配置</a:t>
            </a:r>
          </a:p>
        </p:txBody>
      </p:sp>
      <p:sp>
        <p:nvSpPr>
          <p:cNvPr id="51" name="P16-l-0-d">
            <a:extLst xmlns:a="http://schemas.openxmlformats.org/drawingml/2006/main">
              <a:ext uri="{FF2B5EF4-FFF2-40B4-BE49-F238E27FC236}">
                <a16:creationId xmlns:a16="http://schemas.microsoft.com/office/drawing/2014/main" id="{23821F16-C8BF-47E3-9E69-CAA5E92B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133725"/>
            <a:ext cx="4505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rPr>
              <a:t>建议10月15日前</a:t>
            </a:r>
          </a:p>
        </p:txBody>
      </p:sp>
      <p:sp>
        <p:nvSpPr>
          <p:cNvPr id="52" name="P16-l-1-n">
            <a:extLst xmlns:a="http://schemas.openxmlformats.org/drawingml/2006/main">
              <a:ext uri="{FF2B5EF4-FFF2-40B4-BE49-F238E27FC236}">
                <a16:creationId xmlns:a16="http://schemas.microsoft.com/office/drawing/2014/main" id="{F517A5DC-F1A1-4919-8B2D-E4C05F6D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3" name="P16-l-1-h">
            <a:extLst xmlns:a="http://schemas.openxmlformats.org/drawingml/2006/main">
              <a:ext uri="{FF2B5EF4-FFF2-40B4-BE49-F238E27FC236}">
                <a16:creationId xmlns:a16="http://schemas.microsoft.com/office/drawing/2014/main" id="{96B32738-B403-4D22-9A1A-6C16DBDC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476625"/>
            <a:ext cx="4505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临床研究与伦理材料</a:t>
            </a:r>
          </a:p>
        </p:txBody>
      </p:sp>
      <p:sp>
        <p:nvSpPr>
          <p:cNvPr id="54" name="P16-l-1-b">
            <a:extLst xmlns:a="http://schemas.openxmlformats.org/drawingml/2006/main">
              <a:ext uri="{FF2B5EF4-FFF2-40B4-BE49-F238E27FC236}">
                <a16:creationId xmlns:a16="http://schemas.microsoft.com/office/drawing/2014/main" id="{DF51E091-C5AA-4086-8723-6E126674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57625"/>
            <a:ext cx="450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提供3至5项在研或拟开展研究及伦理批件</a:t>
            </a:r>
          </a:p>
        </p:txBody>
      </p:sp>
      <p:sp>
        <p:nvSpPr>
          <p:cNvPr id="55" name="P16-l-1-d">
            <a:extLst xmlns:a="http://schemas.openxmlformats.org/drawingml/2006/main">
              <a:ext uri="{FF2B5EF4-FFF2-40B4-BE49-F238E27FC236}">
                <a16:creationId xmlns:a16="http://schemas.microsoft.com/office/drawing/2014/main" id="{766BFB8F-80E2-4FA1-9AD8-2C1A216C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276725"/>
            <a:ext cx="4505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rPr>
              <a:t>建议10月底前</a:t>
            </a:r>
          </a:p>
        </p:txBody>
      </p:sp>
      <p:sp>
        <p:nvSpPr>
          <p:cNvPr id="56" name="P16-l-2-n">
            <a:extLst xmlns:a="http://schemas.openxmlformats.org/drawingml/2006/main">
              <a:ext uri="{FF2B5EF4-FFF2-40B4-BE49-F238E27FC236}">
                <a16:creationId xmlns:a16="http://schemas.microsoft.com/office/drawing/2014/main" id="{2D4FA424-5645-4E8F-B27D-C3D96633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7" name="P16-l-2-h">
            <a:extLst xmlns:a="http://schemas.openxmlformats.org/drawingml/2006/main">
              <a:ext uri="{FF2B5EF4-FFF2-40B4-BE49-F238E27FC236}">
                <a16:creationId xmlns:a16="http://schemas.microsoft.com/office/drawing/2014/main" id="{60B5ACAF-CED3-4F6E-91B1-9028CDEE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619625"/>
            <a:ext cx="4505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示范科室与参与角色</a:t>
            </a:r>
          </a:p>
        </p:txBody>
      </p:sp>
      <p:sp>
        <p:nvSpPr>
          <p:cNvPr id="58" name="P16-l-2-b">
            <a:extLst xmlns:a="http://schemas.openxmlformats.org/drawingml/2006/main">
              <a:ext uri="{FF2B5EF4-FFF2-40B4-BE49-F238E27FC236}">
                <a16:creationId xmlns:a16="http://schemas.microsoft.com/office/drawing/2014/main" id="{D028F107-A0B0-4053-9C8A-8F98C3B9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000625"/>
            <a:ext cx="450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确定场地 设备与示范讲解人员</a:t>
            </a:r>
          </a:p>
        </p:txBody>
      </p:sp>
      <p:sp>
        <p:nvSpPr>
          <p:cNvPr id="59" name="P16-l-2-d">
            <a:extLst xmlns:a="http://schemas.openxmlformats.org/drawingml/2006/main">
              <a:ext uri="{FF2B5EF4-FFF2-40B4-BE49-F238E27FC236}">
                <a16:creationId xmlns:a16="http://schemas.microsoft.com/office/drawing/2014/main" id="{D18B62A8-C23E-4466-99D0-B7D5AFDF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419725"/>
            <a:ext cx="4505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AA550D"/>
                </a:solidFill>
                <a:latin typeface="Microsoft YaHei"/>
                <a:ea typeface="Microsoft YaHei"/>
                <a:cs typeface="Microsoft YaHei"/>
              </a:rPr>
              <a:t>建议10月15日前</a:t>
            </a:r>
          </a:p>
        </p:txBody>
      </p:sp>
      <p:sp>
        <p:nvSpPr>
          <p:cNvPr id="60" name="P16-r-0-n">
            <a:extLst xmlns:a="http://schemas.openxmlformats.org/drawingml/2006/main">
              <a:ext uri="{FF2B5EF4-FFF2-40B4-BE49-F238E27FC236}">
                <a16:creationId xmlns:a16="http://schemas.microsoft.com/office/drawing/2014/main" id="{BF526FF8-3421-47C9-AC5B-1A84A7A4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1" name="P16-r-0-h">
            <a:extLst xmlns:a="http://schemas.openxmlformats.org/drawingml/2006/main">
              <a:ext uri="{FF2B5EF4-FFF2-40B4-BE49-F238E27FC236}">
                <a16:creationId xmlns:a16="http://schemas.microsoft.com/office/drawing/2014/main" id="{D00F641B-8C2B-45E3-BA69-DB1A071E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4505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共享可复用成果</a:t>
            </a:r>
          </a:p>
        </p:txBody>
      </p:sp>
      <p:sp>
        <p:nvSpPr>
          <p:cNvPr id="62" name="P16-r-0-b">
            <a:extLst xmlns:a="http://schemas.openxmlformats.org/drawingml/2006/main">
              <a:ext uri="{FF2B5EF4-FFF2-40B4-BE49-F238E27FC236}">
                <a16:creationId xmlns:a16="http://schemas.microsoft.com/office/drawing/2014/main" id="{C2DB8B42-BF6E-4E35-8CF2-FF2856B0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14625"/>
            <a:ext cx="450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接口规范 数据字典与主索引方案</a:t>
            </a:r>
          </a:p>
        </p:txBody>
      </p:sp>
      <p:sp>
        <p:nvSpPr>
          <p:cNvPr id="63" name="P16-r-0-d">
            <a:extLst xmlns:a="http://schemas.openxmlformats.org/drawingml/2006/main">
              <a:ext uri="{FF2B5EF4-FFF2-40B4-BE49-F238E27FC236}">
                <a16:creationId xmlns:a16="http://schemas.microsoft.com/office/drawing/2014/main" id="{8D982D3E-D271-462C-8C97-0892DA69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33725"/>
            <a:ext cx="4505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本周内移交机构办</a:t>
            </a:r>
          </a:p>
        </p:txBody>
      </p:sp>
      <p:sp>
        <p:nvSpPr>
          <p:cNvPr id="64" name="P16-r-1-n">
            <a:extLst xmlns:a="http://schemas.openxmlformats.org/drawingml/2006/main">
              <a:ext uri="{FF2B5EF4-FFF2-40B4-BE49-F238E27FC236}">
                <a16:creationId xmlns:a16="http://schemas.microsoft.com/office/drawing/2014/main" id="{6AC76265-F264-4FA8-A18F-BE7F955A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5" name="P16-r-1-h">
            <a:extLst xmlns:a="http://schemas.openxmlformats.org/drawingml/2006/main">
              <a:ext uri="{FF2B5EF4-FFF2-40B4-BE49-F238E27FC236}">
                <a16:creationId xmlns:a16="http://schemas.microsoft.com/office/drawing/2014/main" id="{CE5AC89C-F55C-4CAC-A4AD-43E721C1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76625"/>
            <a:ext cx="4505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技术团队驻场支持</a:t>
            </a:r>
          </a:p>
        </p:txBody>
      </p:sp>
      <p:sp>
        <p:nvSpPr>
          <p:cNvPr id="66" name="P16-r-1-b">
            <a:extLst xmlns:a="http://schemas.openxmlformats.org/drawingml/2006/main">
              <a:ext uri="{FF2B5EF4-FFF2-40B4-BE49-F238E27FC236}">
                <a16:creationId xmlns:a16="http://schemas.microsoft.com/office/drawing/2014/main" id="{0912C745-D579-4172-A8C1-59E61129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57625"/>
            <a:ext cx="450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支持院内对接与联调</a:t>
            </a:r>
          </a:p>
        </p:txBody>
      </p:sp>
      <p:sp>
        <p:nvSpPr>
          <p:cNvPr id="67" name="P16-r-1-d">
            <a:extLst xmlns:a="http://schemas.openxmlformats.org/drawingml/2006/main">
              <a:ext uri="{FF2B5EF4-FFF2-40B4-BE49-F238E27FC236}">
                <a16:creationId xmlns:a16="http://schemas.microsoft.com/office/drawing/2014/main" id="{B3A5DF99-1CB2-4773-BDFE-FF1B23C1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76725"/>
            <a:ext cx="4505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资源与决策就位后2周内</a:t>
            </a:r>
          </a:p>
        </p:txBody>
      </p:sp>
      <p:sp>
        <p:nvSpPr>
          <p:cNvPr id="68" name="P16-r-2-n">
            <a:extLst xmlns:a="http://schemas.openxmlformats.org/drawingml/2006/main">
              <a:ext uri="{FF2B5EF4-FFF2-40B4-BE49-F238E27FC236}">
                <a16:creationId xmlns:a16="http://schemas.microsoft.com/office/drawing/2014/main" id="{64D2C51B-DCF0-4644-BF34-DC765D8C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96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9" name="P16-r-2-h">
            <a:extLst xmlns:a="http://schemas.openxmlformats.org/drawingml/2006/main">
              <a:ext uri="{FF2B5EF4-FFF2-40B4-BE49-F238E27FC236}">
                <a16:creationId xmlns:a16="http://schemas.microsoft.com/office/drawing/2014/main" id="{6D97CED2-9649-437C-9DEE-49A43192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19625"/>
            <a:ext cx="4505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C7175"/>
                </a:solidFill>
                <a:latin typeface="Microsoft YaHei"/>
                <a:ea typeface="Microsoft YaHei"/>
                <a:cs typeface="Microsoft YaHei"/>
              </a:rPr>
              <a:t>共建脚本与彩排方案</a:t>
            </a:r>
          </a:p>
        </p:txBody>
      </p:sp>
      <p:sp>
        <p:nvSpPr>
          <p:cNvPr id="70" name="P16-r-2-b">
            <a:extLst xmlns:a="http://schemas.openxmlformats.org/drawingml/2006/main">
              <a:ext uri="{FF2B5EF4-FFF2-40B4-BE49-F238E27FC236}">
                <a16:creationId xmlns:a16="http://schemas.microsoft.com/office/drawing/2014/main" id="{6E67EFBA-1F3C-4FC7-A51A-B0C53354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000625"/>
            <a:ext cx="450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0">
                <a:solidFill>
                  <a:srgbClr val="2F4142"/>
                </a:solidFill>
                <a:latin typeface="Microsoft YaHei"/>
                <a:ea typeface="Microsoft YaHei"/>
                <a:cs typeface="Microsoft YaHei"/>
              </a:rPr>
              <a:t>与友谊共同完成点位脚本与现场彩排</a:t>
            </a:r>
          </a:p>
        </p:txBody>
      </p:sp>
      <p:sp>
        <p:nvSpPr>
          <p:cNvPr id="71" name="P16-r-2-d">
            <a:extLst xmlns:a="http://schemas.openxmlformats.org/drawingml/2006/main">
              <a:ext uri="{FF2B5EF4-FFF2-40B4-BE49-F238E27FC236}">
                <a16:creationId xmlns:a16="http://schemas.microsoft.com/office/drawing/2014/main" id="{410A427B-B5EA-4BCB-97A9-8A2FEEB5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19725"/>
            <a:ext cx="4505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5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347F84"/>
                </a:solidFill>
                <a:latin typeface="Microsoft YaHei"/>
                <a:ea typeface="Microsoft YaHei"/>
                <a:cs typeface="Microsoft YaHei"/>
              </a:rPr>
              <a:t>11月初前</a:t>
            </a:r>
          </a:p>
        </p:txBody>
      </p:sp>
      <p:sp>
        <p:nvSpPr>
          <p:cNvPr id="7" name="P16-template-header">
            <a:extLst xmlns:a="http://schemas.openxmlformats.org/drawingml/2006/main">
              <a:ext uri="{FF2B5EF4-FFF2-40B4-BE49-F238E27FC236}">
                <a16:creationId xmlns:a16="http://schemas.microsoft.com/office/drawing/2014/main" id="{EBF38723-F6C4-42BE-8015-40D5A3AB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35" y="-1270"/>
            <a:ext cx="12191365" cy="740410"/>
          </a:xfrm>
          <a:prstGeom xmlns:a="http://schemas.openxmlformats.org/drawingml/2006/main" prst="round1Rect">
            <a:avLst>
              <a:gd name="adj" fmla="val 27506"/>
            </a:avLst>
          </a:prstGeom>
          <a:gradFill xmlns:a="http://schemas.openxmlformats.org/drawingml/2006/main">
            <a:gsLst>
              <a:gs pos="74000">
                <a:srgbClr val="6AAA9A">
                  <a:alpha val="46000"/>
                </a:srgbClr>
              </a:gs>
              <a:gs pos="100000">
                <a:srgbClr val="7AB39B">
                  <a:alpha val="33000"/>
                </a:srgbClr>
              </a:gs>
              <a:gs pos="47000">
                <a:srgbClr val="5AA199">
                  <a:alpha val="75000"/>
                </a:srgbClr>
              </a:gs>
              <a:gs pos="15000">
                <a:srgbClr val="398F96">
                  <a:alpha val="10000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16-title">
            <a:extLst xmlns:a="http://schemas.openxmlformats.org/drawingml/2006/main">
              <a:ext uri="{FF2B5EF4-FFF2-40B4-BE49-F238E27FC236}">
                <a16:creationId xmlns:a16="http://schemas.microsoft.com/office/drawing/2014/main" id="{0F61A04C-4A18-4554-8433-48EDBD9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7" y="77438"/>
            <a:ext cx="8877300" cy="583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需院方协调事项与长庚支持承诺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4" name="P16-template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9fd74c77c4e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3390" y="148590"/>
            <a:ext cx="2664460" cy="4578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6607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2026-09-21T17:46:08.5870000Z</dcterms:created>
  <dcterms:modified xsi:type="dcterms:W3CDTF">2026-09-21T17:46:08.5870000Z</dcterms:modified>
</coreProperties>
</file>